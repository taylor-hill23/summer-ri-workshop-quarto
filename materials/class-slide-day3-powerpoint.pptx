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62" r:id="rId4"/>
    <p:sldId id="320" r:id="rId5"/>
    <p:sldId id="321" r:id="rId6"/>
    <p:sldId id="322" r:id="rId7"/>
    <p:sldId id="259" r:id="rId8"/>
    <p:sldId id="260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2"/>
  </p:normalViewPr>
  <p:slideViewPr>
    <p:cSldViewPr snapToGrid="0">
      <p:cViewPr>
        <p:scale>
          <a:sx n="110" d="100"/>
          <a:sy n="110" d="100"/>
        </p:scale>
        <p:origin x="53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350F6-05A1-1543-9840-B4CA4A74AE5F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A34C3-6473-E946-862B-E52C3F4CF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2A34C3-6473-E946-862B-E52C3F4CF0F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363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602B2-5C0B-693D-C3DF-41A1EA799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A9A1E-E50A-626E-A471-39EAB018F4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FD98-B159-1904-EEC8-7333191A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5CB4A-E950-A524-2B49-063214C51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1248-3C29-E492-786D-029BD57D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51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DF69-9532-C06A-A4D0-B2979FFB3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E670F-2D7C-0109-AF45-FA295AA5C1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F5D18-B2B6-EE13-2405-8CF1BF0E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27B92-F5D7-9E43-B115-14DB23D14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C384-FFC1-E280-8FF5-5CF04678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01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99A1-48E4-ADC6-73CA-87AB848D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8BD6BE-C794-C33B-035E-724D6EF58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9AA34-D318-008D-5BFA-8B62E239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783CF-99F5-E70A-372E-333BE8E9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3BAD-B5B1-49CC-14E4-BBB6DF45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21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53E28-F3BF-BDF4-D043-F1DF65169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9F006-D5CF-51EF-49A5-E00B8A38D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EC9D2-060B-9349-D5ED-F7E950A8BE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F8230-04D1-C5D0-ED63-23F18C86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BD65E-5D1C-2EAF-0EB4-2349E29A4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35775-E339-8E3B-CC21-25611F422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6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B6DB-66CC-66B8-1DCD-14BC30FC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4BF5-1349-665F-4F7C-79731E8FA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6D3A0-A164-B9F5-CE40-03C1BD349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5074A-B639-EA2B-2B4E-48C4FDF39A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280FF-4D6D-52D8-15D9-BDBD9771B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59CBB-AC3E-9B0D-AE5E-479988650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6F6CDF-C0E3-F886-B55B-0F40BCCF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1BCC8-B501-6586-0281-BE365074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1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4B627-101C-76C6-85BB-C77C9B392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86EE8-A84C-0C53-5935-A9C8BA08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E282A-6FCB-2D8A-EB8F-E3C389612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9A127-A676-9A6E-E22C-1FF01098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0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3054E-1948-901C-D4D4-C8F6530B0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A265B8-42FE-5B08-C33A-6B558E84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1B877-F4D7-CCAF-5689-48814A8FF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18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3973-BB3E-C31C-8453-3C14F6F91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6C20D-5E2A-3CB8-9358-8E2B9E705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E0B1A-C805-AAFB-B22C-FEEF9ADFB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D1C9C-BE69-5ABA-9CFE-77E227694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7F0F6-AB1C-C031-5011-1E025E3D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7F552-D273-AEDD-BA1E-0ACCAA29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49D85-1242-6869-0669-8AF4D87B8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D9D66-1AF3-D20D-A897-499A92409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3AE51-4B78-1192-FC6A-6F14D4328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AC2E3-7B8F-B4D5-6F23-F34CB82F5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AD44E-1F79-0196-407E-79D55324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F67D9-1563-F738-AFB5-9473AFEB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17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546D8-FDF8-9CEF-5991-5374F980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641299-9FCA-E63A-E4E3-804C0F82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BA72E-BB57-BB4F-45EC-ACCF4987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08A8B-D13C-A2D3-7737-999784B7A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E6A4-D332-6E8D-AB4A-C4F6DC630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27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454A92-2740-F25C-D891-5EF00FC902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3E817-00C0-02F6-051E-C93FBD43C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287C-B7F2-1B14-7BFC-04987396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62221-F687-A7A0-2A93-D26CD48F4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8E022-CD7B-2160-D33F-D193E2EE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7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B493F9-AE7A-7F3D-2ECA-F9117306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07E234-63AA-1BD2-609B-26C8EF5B1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DC426-7ECC-E123-8973-29C4AD116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C391E-D1F2-BE44-84EF-AD229C931F22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0A98-CB46-DFA9-CAF7-23AC3BAEE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48684-C17C-D47D-F56C-5756F9288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3817C-0636-0A44-8F40-2CD1B8928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0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jors | Office of Admissions">
            <a:extLst>
              <a:ext uri="{FF2B5EF4-FFF2-40B4-BE49-F238E27FC236}">
                <a16:creationId xmlns:a16="http://schemas.microsoft.com/office/drawing/2014/main" id="{93180766-F866-4B28-D4F3-5A6D516384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l="3206" r="3485" b="1"/>
          <a:stretch>
            <a:fillRect/>
          </a:stretch>
        </p:blipFill>
        <p:spPr>
          <a:xfrm>
            <a:off x="0" y="0"/>
            <a:ext cx="12188923" cy="68579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58567"/>
            <a:ext cx="9144000" cy="1927035"/>
          </a:xfrm>
        </p:spPr>
        <p:txBody>
          <a:bodyPr>
            <a:normAutofit/>
          </a:bodyPr>
          <a:lstStyle/>
          <a:p>
            <a:pPr fontAlgn="base"/>
            <a:r>
              <a:rPr lang="en-US" b="1" dirty="0">
                <a:solidFill>
                  <a:schemeClr val="bg1"/>
                </a:solidFill>
              </a:rPr>
              <a:t>Factor Variables and Thinking in Pictures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3 of the RI Workshop, Summer 2026</a:t>
            </a: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Taylor Hill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A4C4-B240-15F5-B0E1-ADF7EE85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Any questions about the homework?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C56F-3B53-03F6-C50D-75C4F0612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Did anyone run into any issues?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594856-9DB8-A9EA-AF94-987275666AAD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61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1657-2B25-5854-6CF0-BF223BCBE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DC1FC-D763-EEE4-D03F-9F3F9F95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Group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66E92-6279-0727-6A2A-0FB28AF6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course website, under Day 3, download the Olympics data and do the following: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data into R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 me the names of all the variables and the dimensions of our data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data only has the country, winter, and summer variables.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Rename the variables to something that makes sense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 new variable that is the total number of medals: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hint: you will need to use the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rowwise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 in each row, I will put that on the board when everyone is ready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the results for only one country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one country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06EF84-0646-3F38-CA92-57DAEEC7BE93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981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ourier"/>
              </a:rPr>
              <a:t>rowwise</a:t>
            </a:r>
            <a:r>
              <a:rPr dirty="0">
                <a:latin typeface="Courier"/>
              </a:rPr>
              <a:t>()</a:t>
            </a:r>
            <a:r>
              <a:rPr dirty="0"/>
              <a:t> </a:t>
            </a:r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B8A36-7A6A-2BB5-70F8-81B2BC2D0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417639"/>
            <a:ext cx="10197785" cy="227204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1DE28F-8950-CDB5-F0FA-623B69CA13E5}"/>
              </a:ext>
            </a:extLst>
          </p:cNvPr>
          <p:cNvCxnSpPr/>
          <p:nvPr/>
        </p:nvCxnSpPr>
        <p:spPr>
          <a:xfrm>
            <a:off x="609600" y="1187116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Olympics Data: Complete 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9D52C-1E87-C87C-1E02-662CD56E2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647881"/>
            <a:ext cx="11169596" cy="459326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D56443-A67C-2D59-BBE6-253CD92CDA17}"/>
              </a:ext>
            </a:extLst>
          </p:cNvPr>
          <p:cNvCxnSpPr/>
          <p:nvPr/>
        </p:nvCxnSpPr>
        <p:spPr>
          <a:xfrm>
            <a:off x="609599" y="1261979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haroni" panose="02010803020104030203" pitchFamily="2" charset="-79"/>
                <a:cs typeface="Aharoni" panose="02010803020104030203" pitchFamily="2" charset="-79"/>
              </a:rPr>
              <a:t>Olympics Data: Solution, Continued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517AC1-8972-448E-CFF2-E81A244CC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05" y="1417638"/>
            <a:ext cx="11470105" cy="508105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0BEF72F-9D95-E9F8-4514-E24E336C146E}"/>
              </a:ext>
            </a:extLst>
          </p:cNvPr>
          <p:cNvCxnSpPr/>
          <p:nvPr/>
        </p:nvCxnSpPr>
        <p:spPr>
          <a:xfrm>
            <a:off x="609600" y="1229895"/>
            <a:ext cx="109728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B354-070D-ECF7-6671-2F9BDACD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2887C-B6AA-3BD3-4F50-CFEC1A04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Becoming Familiar with Data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DE6A83-56B3-B975-427F-E1BD84D79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571" y="1788434"/>
            <a:ext cx="10515600" cy="8923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29858C-2190-683B-4A1E-27AC555C9B2D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DDBAB87-50B3-B338-8981-AFF594215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71" y="2795516"/>
            <a:ext cx="10518229" cy="1746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E88CA0-9CFD-8BAD-FAA0-498301BA5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71" y="4674367"/>
            <a:ext cx="10515601" cy="821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ABDF20-3F03-8B16-6A08-FFAF39B14D39}"/>
              </a:ext>
            </a:extLst>
          </p:cNvPr>
          <p:cNvSpPr txBox="1"/>
          <p:nvPr/>
        </p:nvSpPr>
        <p:spPr>
          <a:xfrm>
            <a:off x="835571" y="1229679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 below.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38EB38-191C-017D-5A73-56E680DBCE2D}"/>
              </a:ext>
            </a:extLst>
          </p:cNvPr>
          <p:cNvSpPr txBox="1"/>
          <p:nvPr/>
        </p:nvSpPr>
        <p:spPr>
          <a:xfrm>
            <a:off x="835571" y="5628321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negative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gender mean? </a:t>
            </a:r>
          </a:p>
        </p:txBody>
      </p:sp>
    </p:spTree>
    <p:extLst>
      <p:ext uri="{BB962C8B-B14F-4D97-AF65-F5344CB8AC3E}">
        <p14:creationId xmlns:p14="http://schemas.microsoft.com/office/powerpoint/2010/main" val="252979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044D-7AB6-F78E-D712-363985786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26E1-47CE-CF6F-77E4-070F449C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Fixing Gender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C0425C-19B0-88DD-F535-688E683ED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63533"/>
            <a:ext cx="10515600" cy="264118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031AC-8CA2-DB1E-D2C9-7EB849CA85BA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99FDCC0-A2F2-72C4-364E-20CFD34AD26C}"/>
              </a:ext>
            </a:extLst>
          </p:cNvPr>
          <p:cNvSpPr txBox="1"/>
          <p:nvPr/>
        </p:nvSpPr>
        <p:spPr>
          <a:xfrm>
            <a:off x="838200" y="4294138"/>
            <a:ext cx="10398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we used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labels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argument inside of factor to add labels to the values of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46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2FFE9-FDEA-B8F8-FA5C-25CD1743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4ACD-11B6-336B-5B7C-9664E1CB5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Fixing PID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B8FD1B-1F63-EDB3-002F-813FD94E39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2434"/>
            <a:ext cx="10515600" cy="114154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B316DC-201E-07F7-9805-FB5954E944B1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10C6F51-CA78-B7C3-20EA-FB5FA879E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604580"/>
            <a:ext cx="10515599" cy="34606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2BF71E-6F98-BEAD-B448-4D5CA2E77EDF}"/>
              </a:ext>
            </a:extLst>
          </p:cNvPr>
          <p:cNvSpPr txBox="1"/>
          <p:nvPr/>
        </p:nvSpPr>
        <p:spPr>
          <a:xfrm>
            <a:off x="838199" y="6126527"/>
            <a:ext cx="10985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we reshaped the variable to remove “other” by only allowing for values 1-3 in the factor.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6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5BBEC-76AA-5B54-40E6-BA7E5657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6B8F-5811-6743-0EC8-C1EEC784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ggplot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0BE28-30FE-8058-DE35-30A7F1EA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9859"/>
            <a:ext cx="10515600" cy="461710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has a default plot function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you should play around with at some point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package, there is a function and package called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incredibly powerful method for creating graphics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the the best-looking graphs in R.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professors prefer, and require, base R (Causal Inference)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resources page on the website points out a few books that help learn more on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now, let’s get into the basics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57D527-5344-DAE8-019F-E1ABF7C0A06A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23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82372-4FCD-1ADF-FCF6-5BC093256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3048-A76D-8F5A-DD9C-DDA32711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The Parts of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ggplot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80BD2-C330-4907-B234-490CFC8CE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009"/>
            <a:ext cx="10515600" cy="4756954"/>
          </a:xfrm>
        </p:spPr>
        <p:txBody>
          <a:bodyPr>
            <a:normAutofit fontScale="92500"/>
          </a:bodyPr>
          <a:lstStyle/>
          <a:p>
            <a:pPr lvl="0" fontAlgn="base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several important components</a:t>
            </a:r>
          </a:p>
          <a:p>
            <a:pPr lvl="0" fontAlgn="base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how any graph is started, it takes the argument of data, and</a:t>
            </a:r>
            <a:r>
              <a:rPr lang="en-US" dirty="0"/>
              <a:t>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aesthetic</a:t>
            </a:r>
          </a:p>
          <a:p>
            <a:pPr lvl="1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set things such as the x and y variables</a:t>
            </a:r>
          </a:p>
          <a:p>
            <a:pPr lvl="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Rather than using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dirty="0"/>
              <a:t>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pipe between lines, we use a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lvl="0" fontAlgn="base"/>
            <a:r>
              <a:rPr lang="en-US" dirty="0"/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geoms</a:t>
            </a:r>
            <a:r>
              <a:rPr lang="en-US" dirty="0"/>
              <a:t>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how you actually decide what type of graph you’re making</a:t>
            </a:r>
          </a:p>
          <a:p>
            <a:pPr lvl="1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are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geom_bar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geom_density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dirty="0"/>
              <a:t>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0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Lastly, the theme, which determines how the graph is presented</a:t>
            </a:r>
          </a:p>
          <a:p>
            <a:pPr lvl="1" fontAlgn="base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preset option, such as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theme_classic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use the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theme()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to change things individually, or both together!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66F734-0844-C4BB-6D6C-DC7E880011ED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14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0E268-46BF-5D51-CAAA-F18FA9EF2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7B09-3A7A-4D38-1AB7-5F3E245F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Structure of </a:t>
            </a:r>
            <a:r>
              <a:rPr lang="en-US" b="1" dirty="0" err="1">
                <a:latin typeface="Aharoni" panose="02010803020104030203" pitchFamily="2" charset="-79"/>
                <a:cs typeface="Aharoni" panose="02010803020104030203" pitchFamily="2" charset="-79"/>
              </a:rPr>
              <a:t>ggplot</a:t>
            </a:r>
            <a:r>
              <a:rPr lang="en-US" b="1" dirty="0">
                <a:latin typeface="Aharoni" panose="02010803020104030203" pitchFamily="2" charset="-79"/>
                <a:cs typeface="Aharoni" panose="02010803020104030203" pitchFamily="2" charset="-79"/>
              </a:rPr>
              <a:t> Code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9C459B-61F8-8623-537E-63D89D0EB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54140"/>
            <a:ext cx="10549728" cy="125493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530459-25EF-B165-539F-932B0B7A7A74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FC196A9-BF63-BA58-1BB9-7E292EEED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312433"/>
            <a:ext cx="10515600" cy="679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BA9F0B-3F72-2FAC-2CC4-4597E3D0D2F3}"/>
              </a:ext>
            </a:extLst>
          </p:cNvPr>
          <p:cNvSpPr txBox="1"/>
          <p:nvPr/>
        </p:nvSpPr>
        <p:spPr>
          <a:xfrm>
            <a:off x="871369" y="2119256"/>
            <a:ext cx="82846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basic structure—this is all you technically need to make a graph.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line graph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61901F-6473-9AF8-9452-52D76ADA8FAB}"/>
              </a:ext>
            </a:extLst>
          </p:cNvPr>
          <p:cNvSpPr txBox="1"/>
          <p:nvPr/>
        </p:nvSpPr>
        <p:spPr>
          <a:xfrm>
            <a:off x="838199" y="4299587"/>
            <a:ext cx="1046671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add more lines to the graph to make it look better.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look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theme()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is where you can add many arguments to change the look of your plot.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plot.title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element_text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hjust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=.5)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the plot title slightly up </a:t>
            </a:r>
          </a:p>
        </p:txBody>
      </p:sp>
    </p:spTree>
    <p:extLst>
      <p:ext uri="{BB962C8B-B14F-4D97-AF65-F5344CB8AC3E}">
        <p14:creationId xmlns:p14="http://schemas.microsoft.com/office/powerpoint/2010/main" val="186307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BB9E2-6EB8-2707-DB1D-13939194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5254-86F0-BD88-4555-0CBB6607F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911"/>
            <a:ext cx="10515600" cy="947308"/>
          </a:xfrm>
        </p:spPr>
        <p:txBody>
          <a:bodyPr/>
          <a:lstStyle/>
          <a:p>
            <a:pPr algn="ctr"/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ggplot</a:t>
            </a:r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8076-C46F-BD36-8C77-22F060AFE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1219"/>
            <a:ext cx="10515600" cy="48645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code below to read in the dataset we used in the previous class.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CAE61E-6DAA-DBA7-DD33-33840F882B35}"/>
              </a:ext>
            </a:extLst>
          </p:cNvPr>
          <p:cNvCxnSpPr/>
          <p:nvPr/>
        </p:nvCxnSpPr>
        <p:spPr>
          <a:xfrm>
            <a:off x="838200" y="900568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D180007-3253-2E0B-D31B-D4EEF1B0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45257"/>
            <a:ext cx="7772400" cy="494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91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951B1-7D99-A03B-0A9F-8EF46D4A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19E47-F89F-4301-183D-8BAA74B1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Scatter Plot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51BF5B-EDF4-A369-DF61-BF6713F05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69383"/>
            <a:ext cx="10550382" cy="117379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7822079-1B1B-7207-832E-809DAC4581E0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380C282-AAA6-195F-4A23-E14BFA2E48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2"/>
          <a:stretch>
            <a:fillRect/>
          </a:stretch>
        </p:blipFill>
        <p:spPr>
          <a:xfrm>
            <a:off x="7351487" y="3000131"/>
            <a:ext cx="4002313" cy="3631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5B74B8-326C-8F87-665D-A72B7C32029F}"/>
              </a:ext>
            </a:extLst>
          </p:cNvPr>
          <p:cNvSpPr txBox="1"/>
          <p:nvPr/>
        </p:nvSpPr>
        <p:spPr>
          <a:xfrm>
            <a:off x="899887" y="3033486"/>
            <a:ext cx="63077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code returns the plot on the right.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one point represent in this plot?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 you can pipe your data into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helpful if you want to make changes to your data for your plot</a:t>
            </a:r>
          </a:p>
        </p:txBody>
      </p:sp>
    </p:spTree>
    <p:extLst>
      <p:ext uri="{BB962C8B-B14F-4D97-AF65-F5344CB8AC3E}">
        <p14:creationId xmlns:p14="http://schemas.microsoft.com/office/powerpoint/2010/main" val="1539307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173A-2521-81AE-ECFB-A762D034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8D1F7-D9B7-1062-7B0E-106DAB3C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Scatter Plot with a Line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76249B0-1A08-3016-4E61-E45086529C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2434"/>
            <a:ext cx="10520813" cy="1825039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3364DEE-CC1C-DA48-483B-37A50A6CD30B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3D2766F-B18C-5EEF-4C8D-41CB5314B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174" y="3249358"/>
            <a:ext cx="3818964" cy="34185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22492B-74E2-C07C-F781-340910E74C70}"/>
              </a:ext>
            </a:extLst>
          </p:cNvPr>
          <p:cNvSpPr txBox="1"/>
          <p:nvPr/>
        </p:nvSpPr>
        <p:spPr>
          <a:xfrm>
            <a:off x="838200" y="3397362"/>
            <a:ext cx="6852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make a scatter plot and then add a line on top to see the correlation between two variable.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you have two numeric variables.  </a:t>
            </a:r>
          </a:p>
        </p:txBody>
      </p:sp>
    </p:spTree>
    <p:extLst>
      <p:ext uri="{BB962C8B-B14F-4D97-AF65-F5344CB8AC3E}">
        <p14:creationId xmlns:p14="http://schemas.microsoft.com/office/powerpoint/2010/main" val="3128766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4174-8800-2C44-DEB2-D050A3DFF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3300-E94E-109B-C43C-AD22B316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Histograms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BD81E9-AB9A-170C-9D1D-9EDD376DC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19373"/>
            <a:ext cx="10515600" cy="158829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827D49-DD0C-7F83-37B3-A54AE24A237C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D7DAF39D-364D-9ED5-CF6D-0C3B7471F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746" y="2955223"/>
            <a:ext cx="4226185" cy="3773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938BE4-C7A9-267E-7096-C92353704447}"/>
              </a:ext>
            </a:extLst>
          </p:cNvPr>
          <p:cNvSpPr txBox="1"/>
          <p:nvPr/>
        </p:nvSpPr>
        <p:spPr>
          <a:xfrm>
            <a:off x="586069" y="3013501"/>
            <a:ext cx="6852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 for seeing the distribution of a variable.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also use base R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hist()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quickly look and don’t care about the look.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1BA04B-B443-C686-6A8B-B6250CD974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r="25922" b="-960"/>
          <a:stretch>
            <a:fillRect/>
          </a:stretch>
        </p:blipFill>
        <p:spPr>
          <a:xfrm>
            <a:off x="838200" y="4240211"/>
            <a:ext cx="5610336" cy="35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2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A265-29BA-C710-7055-BE7DF6143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B6973-6A0B-CA9A-2C5D-3D4171B7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Density Plots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6F227A-62BE-CB0D-FF42-8B3EDA4B9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312433"/>
            <a:ext cx="10495023" cy="115106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9BBF4BA-B45D-4ACA-3B0D-EC9BC33BC3B5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E0A7BFC-4E16-EE69-6AAE-FABFC7DE6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064" y="2614106"/>
            <a:ext cx="4545163" cy="40676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A8837D-9E7A-AEC6-76DF-BD49AB595E93}"/>
              </a:ext>
            </a:extLst>
          </p:cNvPr>
          <p:cNvSpPr txBox="1"/>
          <p:nvPr/>
        </p:nvSpPr>
        <p:spPr>
          <a:xfrm>
            <a:off x="553443" y="2764713"/>
            <a:ext cx="6852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see a variable distribution. </a:t>
            </a:r>
          </a:p>
        </p:txBody>
      </p:sp>
    </p:spTree>
    <p:extLst>
      <p:ext uri="{BB962C8B-B14F-4D97-AF65-F5344CB8AC3E}">
        <p14:creationId xmlns:p14="http://schemas.microsoft.com/office/powerpoint/2010/main" val="164896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D1F3-9B2C-8B19-E73A-F60F06F4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929B9-2EB3-23FC-8481-17F00E005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Bar Plots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08DCFD-450A-7083-9BA1-D421EC0CDF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2434"/>
            <a:ext cx="10515600" cy="145558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4AE87C1-AD5B-A160-CC91-2726B5169156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5B63118E-B2A6-68D0-5A36-9FC571E66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502" y="2981691"/>
            <a:ext cx="4313817" cy="38763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70034C-A839-CF1E-E216-87C479433296}"/>
              </a:ext>
            </a:extLst>
          </p:cNvPr>
          <p:cNvSpPr txBox="1"/>
          <p:nvPr/>
        </p:nvSpPr>
        <p:spPr>
          <a:xfrm>
            <a:off x="639504" y="2967335"/>
            <a:ext cx="6852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you have one categorical and one numeric variable. </a:t>
            </a:r>
          </a:p>
        </p:txBody>
      </p:sp>
    </p:spTree>
    <p:extLst>
      <p:ext uri="{BB962C8B-B14F-4D97-AF65-F5344CB8AC3E}">
        <p14:creationId xmlns:p14="http://schemas.microsoft.com/office/powerpoint/2010/main" val="3155683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62315-CCF5-1E7D-E2F8-65C88965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E16A-CC25-C9B6-5283-5638773D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Boxplots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AB8248-3001-AD9F-C7F0-666C67EDA3F0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A140A48-A4B7-845B-85E1-87450F60DE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09150"/>
            <a:ext cx="10515600" cy="9036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E68BFA-BD96-07BB-A33E-6A6DC7A48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04" y="2409550"/>
            <a:ext cx="4414296" cy="395764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85F845-DF81-EF3D-187F-EA078EF9DB22}"/>
              </a:ext>
            </a:extLst>
          </p:cNvPr>
          <p:cNvSpPr txBox="1"/>
          <p:nvPr/>
        </p:nvSpPr>
        <p:spPr>
          <a:xfrm>
            <a:off x="639505" y="2598003"/>
            <a:ext cx="64820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when you have one categorical and one numeric variable.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you the max, min, mean, first quartile, and third quartile for each group. </a:t>
            </a:r>
          </a:p>
        </p:txBody>
      </p:sp>
    </p:spTree>
    <p:extLst>
      <p:ext uri="{BB962C8B-B14F-4D97-AF65-F5344CB8AC3E}">
        <p14:creationId xmlns:p14="http://schemas.microsoft.com/office/powerpoint/2010/main" val="1875679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481A2-4864-80BF-B9E4-B63C83498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06BE-1A20-DDF7-CFDA-F21B819C0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Ways to Improve a Graph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180F2E-6823-E562-A6F0-5EB6C3AEA7B9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6F65B9-FA7D-4752-E6A0-455043976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47246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color to each bar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the axis labels to something that makes sense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Maybe we want a title?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caption of where the data is from?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more options, these ideas are meant to get you thinking. A figure is meant to communicate data effectively.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616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3D4C-01D2-0309-095B-55FD4804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0852-A707-5818-9EA3-B6DF3796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Adding Color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3D69C1-645E-4D81-4F28-518BACB70184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73EA4C-32E1-8962-435A-A79D2F39CA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312433"/>
            <a:ext cx="10538601" cy="17857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3B7DD3-AC41-E81E-19FD-DF5E3F605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45" y="3098178"/>
            <a:ext cx="4418255" cy="35235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40DF65-0E34-62E4-90C7-E3C674715A7C}"/>
              </a:ext>
            </a:extLst>
          </p:cNvPr>
          <p:cNvSpPr txBox="1"/>
          <p:nvPr/>
        </p:nvSpPr>
        <p:spPr>
          <a:xfrm>
            <a:off x="871369" y="3377901"/>
            <a:ext cx="6041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add color according to a specific variable in the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with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fill=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manually choose colors for each level. </a:t>
            </a:r>
          </a:p>
        </p:txBody>
      </p:sp>
    </p:spTree>
    <p:extLst>
      <p:ext uri="{BB962C8B-B14F-4D97-AF65-F5344CB8AC3E}">
        <p14:creationId xmlns:p14="http://schemas.microsoft.com/office/powerpoint/2010/main" val="1189669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DCC20-3BE7-D381-A3FE-ED75E62E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C556-03E6-7973-4B44-E23C2DB7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Adding Color Manually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117A82-C90E-BB9E-BFC6-6F2E3FA7AEB6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9FE6869-8567-9910-FDA5-7DBED115B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312433"/>
            <a:ext cx="10515599" cy="21058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48A082-32E2-1954-6F69-848A2FEA8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61" y="3568876"/>
            <a:ext cx="3952537" cy="315067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895A0F-3216-D61C-F72A-D01982FCA41C}"/>
              </a:ext>
            </a:extLst>
          </p:cNvPr>
          <p:cNvSpPr txBox="1"/>
          <p:nvPr/>
        </p:nvSpPr>
        <p:spPr>
          <a:xfrm>
            <a:off x="838198" y="3568876"/>
            <a:ext cx="6294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scale_fill_manual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manually describe the colors you want. </a:t>
            </a:r>
          </a:p>
        </p:txBody>
      </p:sp>
    </p:spTree>
    <p:extLst>
      <p:ext uri="{BB962C8B-B14F-4D97-AF65-F5344CB8AC3E}">
        <p14:creationId xmlns:p14="http://schemas.microsoft.com/office/powerpoint/2010/main" val="3559202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A7670-6B11-B548-E5BA-AC8BA7428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28593-B532-0373-D1B5-6679BD29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Changing Axis Labels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7A4285-5700-E618-1D25-785829BC5BF7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1541AC-EE77-64B9-DB4D-9D22A4C503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2433"/>
            <a:ext cx="10515600" cy="1718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FD6DD0-57FF-426C-BCAD-68A3C5744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896" y="3106653"/>
            <a:ext cx="4716705" cy="37513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599505-87B2-F7C6-9318-225610E089DC}"/>
              </a:ext>
            </a:extLst>
          </p:cNvPr>
          <p:cNvSpPr txBox="1"/>
          <p:nvPr/>
        </p:nvSpPr>
        <p:spPr>
          <a:xfrm>
            <a:off x="871369" y="3377901"/>
            <a:ext cx="60411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labs()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you can label the axis and the legend.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 when coloring points and lines we use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color=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bars and boxes we use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fill=.</a:t>
            </a:r>
          </a:p>
        </p:txBody>
      </p:sp>
    </p:spTree>
    <p:extLst>
      <p:ext uri="{BB962C8B-B14F-4D97-AF65-F5344CB8AC3E}">
        <p14:creationId xmlns:p14="http://schemas.microsoft.com/office/powerpoint/2010/main" val="3237187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CE51-55E2-8804-084A-DBC54700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33F1-463A-2DAB-A689-8172F97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Adding a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C07E2F-E943-D63C-7183-1F49A087A5C7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72836A-BE5A-713F-436B-28FF9B947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12433"/>
            <a:ext cx="10515600" cy="20055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21D747-EA14-464F-EA63-EFAFCF68B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169" y="3413390"/>
            <a:ext cx="4081631" cy="32609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EC2A5B-E993-7AAC-6487-1BDCEB1AABB9}"/>
              </a:ext>
            </a:extLst>
          </p:cNvPr>
          <p:cNvSpPr txBox="1"/>
          <p:nvPr/>
        </p:nvSpPr>
        <p:spPr>
          <a:xfrm>
            <a:off x="914400" y="3429000"/>
            <a:ext cx="6041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labs()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you can also add a title to your plot. </a:t>
            </a:r>
          </a:p>
        </p:txBody>
      </p:sp>
    </p:spTree>
    <p:extLst>
      <p:ext uri="{BB962C8B-B14F-4D97-AF65-F5344CB8AC3E}">
        <p14:creationId xmlns:p14="http://schemas.microsoft.com/office/powerpoint/2010/main" val="39950470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658E-5916-EFFF-6DB2-99764588D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82C9-1997-5B49-A99D-80D8A6991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Removing the Legend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9CC640-9301-F8CE-8AA5-09DCF96F4C08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81B6D56-4692-B019-D4D1-7060A27E48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7299"/>
            <a:ext cx="10515600" cy="23383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1B50C-37E2-E538-95B1-41C7A8A4D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0737" y="3681742"/>
            <a:ext cx="3813063" cy="3046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038334-AD6E-8BCE-71D8-8306983CBC97}"/>
              </a:ext>
            </a:extLst>
          </p:cNvPr>
          <p:cNvSpPr txBox="1"/>
          <p:nvPr/>
        </p:nvSpPr>
        <p:spPr>
          <a:xfrm>
            <a:off x="838200" y="3827033"/>
            <a:ext cx="65523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argument you can remove the legend.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this argument to move it to a different location. </a:t>
            </a:r>
          </a:p>
        </p:txBody>
      </p:sp>
    </p:spTree>
    <p:extLst>
      <p:ext uri="{BB962C8B-B14F-4D97-AF65-F5344CB8AC3E}">
        <p14:creationId xmlns:p14="http://schemas.microsoft.com/office/powerpoint/2010/main" val="1226543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5F666-F69B-63F9-8E8E-C609E831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C5A26-C58E-C03B-D19E-C205878C2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Changing Point Size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D74F83-7016-3BEE-B823-B7ADA7B9BD83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5990D64-038A-BEC1-4A2E-811933966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5894" r="46297" b="27186"/>
          <a:stretch>
            <a:fillRect/>
          </a:stretch>
        </p:blipFill>
        <p:spPr>
          <a:xfrm>
            <a:off x="838200" y="1312433"/>
            <a:ext cx="10515600" cy="2070585"/>
          </a:xfrm>
          <a:prstGeom prst="rect">
            <a:avLst/>
          </a:prstGeom>
        </p:spPr>
      </p:pic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36ADA8AD-D6A5-0F9B-0E39-55A2ED83C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379" t="49550" r="791" b="1461"/>
          <a:stretch>
            <a:fillRect/>
          </a:stretch>
        </p:blipFill>
        <p:spPr>
          <a:xfrm>
            <a:off x="7769063" y="3428999"/>
            <a:ext cx="4348766" cy="3428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B2E303-CC22-E135-0315-23E5D412881C}"/>
              </a:ext>
            </a:extLst>
          </p:cNvPr>
          <p:cNvSpPr txBox="1"/>
          <p:nvPr/>
        </p:nvSpPr>
        <p:spPr>
          <a:xfrm>
            <a:off x="838200" y="3618689"/>
            <a:ext cx="65523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size= argument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set the size of your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you would use this to shrink the size because the data you will use will have a lot of points.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008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5D829-9899-73EC-6F28-600F0DA1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074B3-9118-1B04-2324-B07C6E85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Changing Transparency of Points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1BB625-F993-5807-BDE7-641CAFCD6ADB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0A86E1-4812-682F-6955-DF6F1D5E5B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269029"/>
            <a:ext cx="10515599" cy="23096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1BC74-4A49-BE5D-63A7-6AE37B9C9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464" y="3652812"/>
            <a:ext cx="4016414" cy="32102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E48E66-0CDC-9772-7632-6EEB7742527F}"/>
              </a:ext>
            </a:extLst>
          </p:cNvPr>
          <p:cNvSpPr txBox="1"/>
          <p:nvPr/>
        </p:nvSpPr>
        <p:spPr>
          <a:xfrm>
            <a:off x="838200" y="3618689"/>
            <a:ext cx="65523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have a lot of points, I prefer using the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alpha=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your points more transparent.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allows you to add other things like lines that you want to stand out more but still allow for the visualization of your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7195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018D-321E-58FA-7BE3-26FCA1191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87F4-B065-22FB-9BDA-504F141B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7308"/>
          </a:xfrm>
        </p:spPr>
        <p:txBody>
          <a:bodyPr/>
          <a:lstStyle/>
          <a:p>
            <a:pPr algn="ctr"/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Practice with </a:t>
            </a:r>
            <a:r>
              <a:rPr lang="en-US" dirty="0" err="1">
                <a:latin typeface="Aharoni" panose="02010803020104030203" pitchFamily="2" charset="-79"/>
                <a:cs typeface="Aharoni" panose="02010803020104030203" pitchFamily="2" charset="-79"/>
              </a:rPr>
              <a:t>ggplot</a:t>
            </a:r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996EA0-3599-8B6E-2870-FE192D85F459}"/>
              </a:ext>
            </a:extLst>
          </p:cNvPr>
          <p:cNvCxnSpPr/>
          <p:nvPr/>
        </p:nvCxnSpPr>
        <p:spPr>
          <a:xfrm>
            <a:off x="838200" y="1161826"/>
            <a:ext cx="10515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B809D-09FB-EDC5-FC7F-EA3EDDF6D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2434"/>
            <a:ext cx="10515600" cy="48645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politicians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data, do the following: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plot that visualizes a correlation between legislation passed and speeches given.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your plot has appropriately labeled x and y axes, a title.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all of the points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skyblue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”. 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line to the plot.</a:t>
            </a:r>
          </a:p>
        </p:txBody>
      </p:sp>
    </p:spTree>
    <p:extLst>
      <p:ext uri="{BB962C8B-B14F-4D97-AF65-F5344CB8AC3E}">
        <p14:creationId xmlns:p14="http://schemas.microsoft.com/office/powerpoint/2010/main" val="233992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1370</TotalTime>
  <Words>1059</Words>
  <Application>Microsoft Macintosh PowerPoint</Application>
  <PresentationFormat>Widescreen</PresentationFormat>
  <Paragraphs>103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Aharoni</vt:lpstr>
      <vt:lpstr>Aptos</vt:lpstr>
      <vt:lpstr>Aptos Display</vt:lpstr>
      <vt:lpstr>Arial</vt:lpstr>
      <vt:lpstr>Courier</vt:lpstr>
      <vt:lpstr>Courier New</vt:lpstr>
      <vt:lpstr>Times New Roman</vt:lpstr>
      <vt:lpstr>Office Theme</vt:lpstr>
      <vt:lpstr>Factor Variables and Thinking in Pictures</vt:lpstr>
      <vt:lpstr>Any questions about the homework?</vt:lpstr>
      <vt:lpstr>Group Work</vt:lpstr>
      <vt:lpstr>rowwise() Code</vt:lpstr>
      <vt:lpstr>Olympics Data: Complete Solution</vt:lpstr>
      <vt:lpstr>Olympics Data: Solution, Continued</vt:lpstr>
      <vt:lpstr>Becoming Familiar with Data</vt:lpstr>
      <vt:lpstr>Fixing Gender</vt:lpstr>
      <vt:lpstr>Fixing PID</vt:lpstr>
      <vt:lpstr>ggplot</vt:lpstr>
      <vt:lpstr>The Parts of ggplot</vt:lpstr>
      <vt:lpstr>Structure of ggplot Code</vt:lpstr>
      <vt:lpstr>ggplot with Data</vt:lpstr>
      <vt:lpstr>Scatter Plot</vt:lpstr>
      <vt:lpstr>Scatter Plot with a Line</vt:lpstr>
      <vt:lpstr>Histograms</vt:lpstr>
      <vt:lpstr>Density Plots</vt:lpstr>
      <vt:lpstr>Bar Plots</vt:lpstr>
      <vt:lpstr>Boxplots</vt:lpstr>
      <vt:lpstr>Ways to Improve a Graph</vt:lpstr>
      <vt:lpstr>Adding Color</vt:lpstr>
      <vt:lpstr>Adding Color Manually</vt:lpstr>
      <vt:lpstr>Changing Axis Labels</vt:lpstr>
      <vt:lpstr>Adding a Title</vt:lpstr>
      <vt:lpstr>Removing the Legend</vt:lpstr>
      <vt:lpstr>Changing Point Size</vt:lpstr>
      <vt:lpstr>Changing Transparency of Points</vt:lpstr>
      <vt:lpstr>Practice with ggplot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Hill</dc:creator>
  <cp:lastModifiedBy>Taylor Hill</cp:lastModifiedBy>
  <cp:revision>4</cp:revision>
  <dcterms:created xsi:type="dcterms:W3CDTF">2026-08-05T20:57:50Z</dcterms:created>
  <dcterms:modified xsi:type="dcterms:W3CDTF">2026-08-06T19:48:24Z</dcterms:modified>
</cp:coreProperties>
</file>