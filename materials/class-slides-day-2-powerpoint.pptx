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7" r:id="rId2"/>
    <p:sldId id="258" r:id="rId3"/>
    <p:sldId id="291" r:id="rId4"/>
    <p:sldId id="292" r:id="rId5"/>
    <p:sldId id="293" r:id="rId6"/>
    <p:sldId id="260" r:id="rId7"/>
    <p:sldId id="261" r:id="rId8"/>
    <p:sldId id="290" r:id="rId9"/>
    <p:sldId id="289" r:id="rId10"/>
    <p:sldId id="271" r:id="rId11"/>
    <p:sldId id="262" r:id="rId12"/>
    <p:sldId id="263" r:id="rId13"/>
    <p:sldId id="264" r:id="rId14"/>
    <p:sldId id="265" r:id="rId15"/>
    <p:sldId id="266" r:id="rId16"/>
    <p:sldId id="267" r:id="rId17"/>
    <p:sldId id="272" r:id="rId18"/>
    <p:sldId id="268" r:id="rId19"/>
    <p:sldId id="269" r:id="rId20"/>
    <p:sldId id="270" r:id="rId21"/>
    <p:sldId id="273" r:id="rId22"/>
    <p:sldId id="274" r:id="rId23"/>
    <p:sldId id="275" r:id="rId24"/>
    <p:sldId id="276" r:id="rId25"/>
    <p:sldId id="281" r:id="rId26"/>
    <p:sldId id="277" r:id="rId27"/>
    <p:sldId id="284" r:id="rId28"/>
    <p:sldId id="285" r:id="rId29"/>
    <p:sldId id="286" r:id="rId30"/>
    <p:sldId id="287" r:id="rId31"/>
    <p:sldId id="288" r:id="rId32"/>
    <p:sldId id="278" r:id="rId33"/>
    <p:sldId id="279" r:id="rId34"/>
    <p:sldId id="280" r:id="rId35"/>
    <p:sldId id="282" r:id="rId36"/>
    <p:sldId id="283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17"/>
    <p:restoredTop sz="94613"/>
  </p:normalViewPr>
  <p:slideViewPr>
    <p:cSldViewPr snapToGrid="0">
      <p:cViewPr varScale="1">
        <p:scale>
          <a:sx n="116" d="100"/>
          <a:sy n="116" d="100"/>
        </p:scale>
        <p:origin x="208" y="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3B7407-2B11-4544-9DD9-81B537745DA0}" type="datetimeFigureOut">
              <a:rPr lang="en-US" smtClean="0"/>
              <a:t>8/10/26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29FA87-65C3-4443-BED2-5E5974CC8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4311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29FA87-65C3-4443-BED2-5E5974CC83A7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8712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34A51-E9E0-A6B7-E43D-951559FE6F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6962D-4624-2ABE-7828-FCA2C30E97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05A49-8554-5306-C63F-8A296FC9F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72B04-E1D9-C745-9637-3DEEE59369F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E9AF95-15B5-5632-7959-E93C055FC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3AF8CF-06D5-5CE3-10C1-B3A9EC9C6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E9EFC-9753-3C4E-9EF5-DCA494FDD9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09491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F2180-F06B-76E3-58D7-454EECF70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051FEC-ADBF-AD6C-8F45-304F51413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E1A119-E61A-089E-8329-5C16A3C5B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72B04-E1D9-C745-9637-3DEEE59369F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005DA4-C87F-0EFD-5EE5-1A7EA803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78FB6B-0C59-92B3-5D46-D15B87046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E9EFC-9753-3C4E-9EF5-DCA494FDD9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6041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CA657-17FF-FB4F-CCF1-D4AC865A9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E817B5-ED19-5500-BFDA-417BD7843E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848F2A-BC79-EE9C-6EB1-E86856CEB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72B04-E1D9-C745-9637-3DEEE59369F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B35429-4D0D-9A3B-1DBF-077EA01BC9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6F7D46-714C-5CE5-23E0-AA5F92122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E9EFC-9753-3C4E-9EF5-DCA494FDD9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8037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18544-1E48-8048-EDB2-3727054AF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DE4609-DB7E-04D7-36CF-A86A87681F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244D0F-3302-B82A-9E45-AA706FC1A3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651F50-C116-D637-C644-6C698E86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72B04-E1D9-C745-9637-3DEEE59369F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43C1BA-80D0-8EED-F64B-712E3C1EB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F5AC56-584D-1005-B640-8D1FC2D91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E9EFC-9753-3C4E-9EF5-DCA494FDD9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135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F0AF2-CD47-8695-0799-81EAA676C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16E3A9-62DD-D1AA-6E9D-6AF929DCCE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D01220-1168-AAAC-D9FC-349002C361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FE1971-810C-B05E-3E5C-BE20E62A36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EF222A0-1121-D27B-25FB-D7D99163E7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9036F9C-8FF1-E5D9-3358-E81E4828C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72B04-E1D9-C745-9637-3DEEE59369F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5F9D1E-6873-317A-2D4B-D0E753117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B7A7E9-0B84-05F7-77A6-E32405DFF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E9EFC-9753-3C4E-9EF5-DCA494FDD9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5257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7CD83-4028-A6F9-898D-793FDEEE1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355F8D-87CA-D25C-4949-6A0B0AD75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72B04-E1D9-C745-9637-3DEEE59369F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C0DD8A-449D-7201-3D46-6A0C1F418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1C5824-8A5E-A4F5-5CB8-1FA3D9E00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E9EFC-9753-3C4E-9EF5-DCA494FDD9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990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8E4B73-BBE9-AED4-D74C-F966D6A826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72B04-E1D9-C745-9637-3DEEE59369F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FBF23C-F62A-2FA7-39F5-3830C0C53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CF4AE8-129A-44FD-E96A-A553E4E3B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E9EFC-9753-3C4E-9EF5-DCA494FDD9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4205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86F2B-AB3B-A197-A2EC-8CA1A61042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7F6AB5-92D8-E990-0E02-8D69B2BBF6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536787-570E-2004-CE91-F741F4095D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52F7DA-06E6-C4DD-CECD-0B3CC543B7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72B04-E1D9-C745-9637-3DEEE59369F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B3A34D-1134-AE50-F749-A92F34F80F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F909D6-B0EE-5C22-AA45-40FFAF0D0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E9EFC-9753-3C4E-9EF5-DCA494FDD9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34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75B47-2F95-AFD2-FCE7-8832C099C2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B0CE99-ACF7-6B4A-B87C-B1E01F9FC5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E6F3AA-10C6-E01F-92E3-F6C0BFB0A3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070D2A-97A7-385A-9FCF-9FC5F588B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72B04-E1D9-C745-9637-3DEEE59369F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062BFB-EA50-97C4-BB7E-012B64122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B209F8-725A-231D-4B91-D1ACB1F87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E9EFC-9753-3C4E-9EF5-DCA494FDD9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222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D6A6E-1BD0-7B51-F9C9-233D8348A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59ACA3-C83F-BDFC-A149-32F012862E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694F5F-EA97-AAF9-496B-0E4A208A0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72B04-E1D9-C745-9637-3DEEE59369F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1EE4A4-3901-848A-0665-5D52D283D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A83328-9A90-0505-538A-B81DA124A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E9EFC-9753-3C4E-9EF5-DCA494FDD9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7295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840E4B-9FCB-9ECB-A65A-6693A8908B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5484E1-05E5-F01A-2DC3-92857FE65D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306CBE-354A-67E8-60D8-41A6D0A15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72B04-E1D9-C745-9637-3DEEE59369F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B3B650-1960-3CFA-D979-69AE6AFD1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F57F3-F419-9E4A-5C12-8D42546D3D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E9EFC-9753-3C4E-9EF5-DCA494FDD9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32683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13C434-B986-14A4-4A67-1CA9D1849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3474FD-898E-BA1E-F7B4-1332C356ED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DF500-CAF7-F730-79BE-025590F41A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A72B04-E1D9-C745-9637-3DEEE59369F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EDFEAE-5981-9F79-CA0A-FBC2478089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FA210C-F97D-04BB-601D-8EF53B560B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3E9EFC-9753-3C4E-9EF5-DCA494FDD9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9707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Majors | Office of Admissions">
            <a:extLst>
              <a:ext uri="{FF2B5EF4-FFF2-40B4-BE49-F238E27FC236}">
                <a16:creationId xmlns:a16="http://schemas.microsoft.com/office/drawing/2014/main" id="{93180766-F866-4B28-D4F3-5A6D5163843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l="3206" r="3485" b="1"/>
          <a:stretch>
            <a:fillRect/>
          </a:stretch>
        </p:blipFill>
        <p:spPr>
          <a:xfrm>
            <a:off x="0" y="0"/>
            <a:ext cx="12188923" cy="685798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2258567"/>
            <a:ext cx="9144000" cy="1927035"/>
          </a:xfrm>
        </p:spPr>
        <p:txBody>
          <a:bodyPr>
            <a:normAutofit/>
          </a:bodyPr>
          <a:lstStyle/>
          <a:p>
            <a:pPr fontAlgn="base"/>
            <a:r>
              <a:rPr lang="en-US" b="1" dirty="0">
                <a:solidFill>
                  <a:schemeClr val="bg1"/>
                </a:solidFill>
              </a:rPr>
              <a:t>Reading Data into R and Aggregating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7048" y="4599432"/>
            <a:ext cx="9144000" cy="153619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Day 2 of the RI Workshop, Summer 2026</a:t>
            </a:r>
            <a:b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Taylor Hill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0E3D5-5A11-093B-3EC5-87B8C0EF5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754" y="2127325"/>
            <a:ext cx="10568492" cy="2603350"/>
          </a:xfrm>
        </p:spPr>
        <p:txBody>
          <a:bodyPr>
            <a:normAutofit/>
          </a:bodyPr>
          <a:lstStyle/>
          <a:p>
            <a:r>
              <a:rPr lang="en-US" sz="7200" b="1" dirty="0">
                <a:latin typeface="Aharoni" panose="02010803020104030203" pitchFamily="2" charset="-79"/>
                <a:cs typeface="Aharoni" panose="02010803020104030203" pitchFamily="2" charset="-79"/>
              </a:rPr>
              <a:t>Questions about the </a:t>
            </a:r>
            <a:br>
              <a:rPr lang="en-US" sz="7200" b="1" dirty="0">
                <a:latin typeface="Aharoni" panose="02010803020104030203" pitchFamily="2" charset="-79"/>
                <a:cs typeface="Aharoni" panose="02010803020104030203" pitchFamily="2" charset="-79"/>
              </a:rPr>
            </a:br>
            <a:r>
              <a:rPr lang="en-US" sz="7200" b="1" dirty="0">
                <a:latin typeface="Aharoni" panose="02010803020104030203" pitchFamily="2" charset="-79"/>
                <a:cs typeface="Aharoni" panose="02010803020104030203" pitchFamily="2" charset="-79"/>
              </a:rPr>
              <a:t>homework?</a:t>
            </a:r>
            <a:endParaRPr lang="en-US" sz="7200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3280885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9DF0F9-B7F1-FEDD-7823-238ADF341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905" y="160252"/>
            <a:ext cx="10515600" cy="626393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haroni" panose="02010803020104030203" pitchFamily="2" charset="-79"/>
                <a:cs typeface="Aharoni" panose="02010803020104030203" pitchFamily="2" charset="-79"/>
              </a:rPr>
              <a:t>Write the code to import the data with </a:t>
            </a:r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read_csv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sz="2800" dirty="0">
                <a:latin typeface="Aharoni" panose="02010803020104030203" pitchFamily="2" charset="-79"/>
                <a:cs typeface="Aharoni" panose="02010803020104030203" pitchFamily="2" charset="-79"/>
              </a:rPr>
              <a:t>or </a:t>
            </a:r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read.csv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4A8862A-502B-EEFA-E128-D7CBBC0BDF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6520" b="16375"/>
          <a:stretch>
            <a:fillRect/>
          </a:stretch>
        </p:blipFill>
        <p:spPr>
          <a:xfrm>
            <a:off x="1221494" y="859290"/>
            <a:ext cx="8964517" cy="388450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68ED0E2-4220-A214-801E-0529115CC3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1494" y="4816442"/>
            <a:ext cx="8946305" cy="8792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AD842B6-ECA6-FCAE-6CA8-8BBB9C61A639}"/>
              </a:ext>
            </a:extLst>
          </p:cNvPr>
          <p:cNvSpPr txBox="1"/>
          <p:nvPr/>
        </p:nvSpPr>
        <p:spPr>
          <a:xfrm>
            <a:off x="297454" y="5923402"/>
            <a:ext cx="10851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you don’t include the import data code, it won’t import it if someone else runs your code, like a co-author.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572A36-624A-60CE-DF1D-834A4064AE85}"/>
              </a:ext>
            </a:extLst>
          </p:cNvPr>
          <p:cNvSpPr txBox="1"/>
          <p:nvPr/>
        </p:nvSpPr>
        <p:spPr>
          <a:xfrm>
            <a:off x="2996588" y="1817783"/>
            <a:ext cx="54643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When using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class(),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make sure to do </a:t>
            </a:r>
            <a:r>
              <a:rPr lang="en-US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data$variable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Class(class_toy_data_1_$x1)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Otherwise, it is just telling you that the term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“x1”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 a character because it is in quotation marks. </a:t>
            </a:r>
          </a:p>
        </p:txBody>
      </p:sp>
    </p:spTree>
    <p:extLst>
      <p:ext uri="{BB962C8B-B14F-4D97-AF65-F5344CB8AC3E}">
        <p14:creationId xmlns:p14="http://schemas.microsoft.com/office/powerpoint/2010/main" val="759649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A0F2D-81AA-FBE3-DF5B-C77B843CC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744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Aharoni" panose="02010803020104030203" pitchFamily="2" charset="-79"/>
                <a:cs typeface="Aharoni" panose="02010803020104030203" pitchFamily="2" charset="-79"/>
              </a:rPr>
              <a:t>Recommendation: use all lowercase letters for variables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B77FA56-3A69-54F0-7DEA-46284B979D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24897" y="1087494"/>
            <a:ext cx="9142205" cy="43513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201EEAC-9C3C-0D81-3AC8-7451F7BEACB5}"/>
              </a:ext>
            </a:extLst>
          </p:cNvPr>
          <p:cNvSpPr txBox="1"/>
          <p:nvPr/>
        </p:nvSpPr>
        <p:spPr>
          <a:xfrm>
            <a:off x="204729" y="5438832"/>
            <a:ext cx="1085161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 lowercase is better for 2 reasons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1) You don’t have to hit shift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everytime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you want to type your variable.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2) If you miss a capital letter, R will return an error.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Obviously, do what works best for you. </a:t>
            </a:r>
          </a:p>
        </p:txBody>
      </p:sp>
    </p:spTree>
    <p:extLst>
      <p:ext uri="{BB962C8B-B14F-4D97-AF65-F5344CB8AC3E}">
        <p14:creationId xmlns:p14="http://schemas.microsoft.com/office/powerpoint/2010/main" val="29524836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7DD9A-CB98-129D-BCD7-21EB9391E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146732"/>
            <a:ext cx="10515600" cy="1325563"/>
          </a:xfrm>
        </p:spPr>
        <p:txBody>
          <a:bodyPr/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Solution: All of the cleaning can be done in one chunk of code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6D6D4C96-7DBC-3CC9-B174-0FD13A797C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41400" y="1690576"/>
            <a:ext cx="10109200" cy="889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2FB2FAC-2301-2312-02FB-2D0EBF3AE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399" y="2579576"/>
            <a:ext cx="10109199" cy="4278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4478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E2A70-5946-2163-2483-A8428575B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2FFA1-2ECA-A81C-C2F0-5B76BA41D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haroni" panose="02010803020104030203" pitchFamily="2" charset="-79"/>
                <a:cs typeface="Aharoni" panose="02010803020104030203" pitchFamily="2" charset="-79"/>
              </a:rPr>
              <a:t>Review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5075ED-E941-312F-3645-CACF171C7B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are the different types of vectors?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Numeric, string/character, factor, logical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an object in R and where are they shown?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Created data, can be either a vector or data frame; global environment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this 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%&gt;% (|&gt;)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called?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pipe operator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functions did we learn about last class to clean data? 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mutate(), select(), filter(), slice()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functions can be used to rename variables? 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rename(), 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clean_names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A25D251-4C57-3C6A-B169-FCC360045248}"/>
              </a:ext>
            </a:extLst>
          </p:cNvPr>
          <p:cNvCxnSpPr/>
          <p:nvPr/>
        </p:nvCxnSpPr>
        <p:spPr>
          <a:xfrm>
            <a:off x="838200" y="1386258"/>
            <a:ext cx="10542494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833DD13D-6CFA-B7D1-C8B4-F8A77425703A}"/>
              </a:ext>
            </a:extLst>
          </p:cNvPr>
          <p:cNvSpPr/>
          <p:nvPr/>
        </p:nvSpPr>
        <p:spPr>
          <a:xfrm>
            <a:off x="1269402" y="2237591"/>
            <a:ext cx="5550946" cy="3980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1DFC564-0F29-76FC-4C64-6E6C6AE16700}"/>
              </a:ext>
            </a:extLst>
          </p:cNvPr>
          <p:cNvSpPr/>
          <p:nvPr/>
        </p:nvSpPr>
        <p:spPr>
          <a:xfrm>
            <a:off x="1378770" y="3063324"/>
            <a:ext cx="8873268" cy="3980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51D555D-EEB5-E0C3-FE77-D543B8E0A3B9}"/>
              </a:ext>
            </a:extLst>
          </p:cNvPr>
          <p:cNvSpPr/>
          <p:nvPr/>
        </p:nvSpPr>
        <p:spPr>
          <a:xfrm>
            <a:off x="1269402" y="3889057"/>
            <a:ext cx="5550946" cy="3980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8A89DF-3192-B6CA-42DF-380165ECD92D}"/>
              </a:ext>
            </a:extLst>
          </p:cNvPr>
          <p:cNvSpPr/>
          <p:nvPr/>
        </p:nvSpPr>
        <p:spPr>
          <a:xfrm>
            <a:off x="1269401" y="4699056"/>
            <a:ext cx="7175351" cy="3980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4F9120-7EE9-8C1F-014C-F86B2B29823B}"/>
              </a:ext>
            </a:extLst>
          </p:cNvPr>
          <p:cNvSpPr/>
          <p:nvPr/>
        </p:nvSpPr>
        <p:spPr>
          <a:xfrm>
            <a:off x="969980" y="5540523"/>
            <a:ext cx="5550946" cy="3980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40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33A861-41F5-4885-6700-10CF5BFFA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EC56D-9711-9E60-7FFF-3543CBB08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306" y="0"/>
            <a:ext cx="10515600" cy="890798"/>
          </a:xfrm>
        </p:spPr>
        <p:txBody>
          <a:bodyPr/>
          <a:lstStyle/>
          <a:p>
            <a:r>
              <a:rPr lang="en-US" b="1" dirty="0">
                <a:latin typeface="Aharoni" panose="02010803020104030203" pitchFamily="2" charset="-79"/>
                <a:cs typeface="Aharoni" panose="02010803020104030203" pitchFamily="2" charset="-79"/>
              </a:rPr>
              <a:t>As Promised… Rainbow Parentheses 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17A1135-7D8D-18BF-5C61-A66643460128}"/>
              </a:ext>
            </a:extLst>
          </p:cNvPr>
          <p:cNvCxnSpPr/>
          <p:nvPr/>
        </p:nvCxnSpPr>
        <p:spPr>
          <a:xfrm>
            <a:off x="811306" y="794234"/>
            <a:ext cx="10542494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55A18373-AE84-204B-4C3C-AF75125E75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412" y="706099"/>
            <a:ext cx="10419742" cy="6512339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1E25E26D-C4F1-728F-57FD-7B46EEE92285}"/>
              </a:ext>
            </a:extLst>
          </p:cNvPr>
          <p:cNvSpPr/>
          <p:nvPr/>
        </p:nvSpPr>
        <p:spPr>
          <a:xfrm>
            <a:off x="3657600" y="2104222"/>
            <a:ext cx="980501" cy="3305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A1FE6DA-61BE-3FE3-B117-FEA80210904C}"/>
              </a:ext>
            </a:extLst>
          </p:cNvPr>
          <p:cNvSpPr/>
          <p:nvPr/>
        </p:nvSpPr>
        <p:spPr>
          <a:xfrm>
            <a:off x="5253212" y="1792078"/>
            <a:ext cx="508610" cy="31214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B66E13A-E485-6F71-ED25-1F65D1619CA5}"/>
              </a:ext>
            </a:extLst>
          </p:cNvPr>
          <p:cNvSpPr/>
          <p:nvPr/>
        </p:nvSpPr>
        <p:spPr>
          <a:xfrm>
            <a:off x="4803356" y="5065922"/>
            <a:ext cx="2071169" cy="61878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63284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BAC6C-9FDB-8433-BADF-860414D5F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075CDE-FDC7-0D11-5284-74D5AC564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haroni" panose="02010803020104030203" pitchFamily="2" charset="-79"/>
                <a:cs typeface="Aharoni" panose="02010803020104030203" pitchFamily="2" charset="-79"/>
              </a:rPr>
              <a:t>Creating an R Project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880CD2-CCE3-DBB4-EED0-E858D37564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936023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 projects allow you to be even more organized when working in R.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These allow you to also change to a different project without having to constantly change your working directory.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Live demo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Written instructions for future reference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Click on the project tab in the top right-hand corner of RStudio.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Click “New Project”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Click “Existing Directory”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Click Browse and navigate to your project file on your computer.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Click create project</a:t>
            </a:r>
          </a:p>
          <a:p>
            <a:pPr lvl="3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FYI, your project will be titled whatever your folder is titled. </a:t>
            </a:r>
          </a:p>
          <a:p>
            <a:pPr lvl="3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Your working directory for that project will always be that folder, so now you don’t need to change it.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65214EA-17F9-2870-3E99-752574E3A260}"/>
              </a:ext>
            </a:extLst>
          </p:cNvPr>
          <p:cNvCxnSpPr/>
          <p:nvPr/>
        </p:nvCxnSpPr>
        <p:spPr>
          <a:xfrm>
            <a:off x="838200" y="1386258"/>
            <a:ext cx="10542494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8704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F3579-E09D-A477-0180-76E905E4E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9056D-4815-2708-CE74-770DF54EA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haroni" panose="02010803020104030203" pitchFamily="2" charset="-79"/>
                <a:cs typeface="Aharoni" panose="02010803020104030203" pitchFamily="2" charset="-79"/>
              </a:rPr>
              <a:t>Other Forms of Data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AAD370-E6BE-B04C-812C-6321721189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01086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can come in forms other than a csv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Below are some common data formats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Note that the functions 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 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read_sav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come from the 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haven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package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B6D7376-1289-FFD8-6DBA-0586E7F304DF}"/>
              </a:ext>
            </a:extLst>
          </p:cNvPr>
          <p:cNvCxnSpPr/>
          <p:nvPr/>
        </p:nvCxnSpPr>
        <p:spPr>
          <a:xfrm>
            <a:off x="838200" y="1386258"/>
            <a:ext cx="10542494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EEEAAAE-AA24-C5E9-520B-8B7FD5465A8D}"/>
              </a:ext>
            </a:extLst>
          </p:cNvPr>
          <p:cNvGraphicFramePr>
            <a:graphicFrameLocks noGrp="1"/>
          </p:cNvGraphicFramePr>
          <p:nvPr/>
        </p:nvGraphicFramePr>
        <p:xfrm>
          <a:off x="1547906" y="2957257"/>
          <a:ext cx="8128000" cy="2656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057605913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6023344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Format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Function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69712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2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dta</a:t>
                      </a:r>
                      <a:endParaRPr lang="en-US" sz="2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read_dta</a:t>
                      </a:r>
                      <a:r>
                        <a:rPr lang="en-US" sz="2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33915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.sav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read_sav</a:t>
                      </a:r>
                      <a:r>
                        <a:rPr lang="en-US" sz="2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2558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2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rds</a:t>
                      </a:r>
                      <a:endParaRPr lang="en-US" sz="24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readRDS</a:t>
                      </a:r>
                      <a:r>
                        <a:rPr lang="en-US" sz="2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1786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.RDATA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load()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8350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.txt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read.delim</a:t>
                      </a:r>
                      <a:r>
                        <a:rPr lang="en-US" sz="2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07831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98641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41D25-D6C7-707D-FE02-B0DF89112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DB9CD-94A1-BBF0-1407-E8DB12A4C4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haroni" panose="02010803020104030203" pitchFamily="2" charset="-79"/>
                <a:cs typeface="Aharoni" panose="02010803020104030203" pitchFamily="2" charset="-79"/>
              </a:rPr>
              <a:t>Cleaning Data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E16CA-A475-9E88-376E-EE1027F236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Cleaning data is a big part of your first-year RA responsibilities. 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tidyverse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commands are the most effective at cleaning data.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These include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mutate(), select(), filter(),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case_when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These commands can do a lot of the work when cleaning data. 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C6E6BE5-3C65-9DA6-5E65-58CC21160209}"/>
              </a:ext>
            </a:extLst>
          </p:cNvPr>
          <p:cNvCxnSpPr/>
          <p:nvPr/>
        </p:nvCxnSpPr>
        <p:spPr>
          <a:xfrm>
            <a:off x="838200" y="1386258"/>
            <a:ext cx="10542494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75211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46222-0796-63D6-20DF-610B6EB27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0CBB7-075B-7A5F-35A7-610B8DFD2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haroni" panose="02010803020104030203" pitchFamily="2" charset="-79"/>
                <a:cs typeface="Aharoni" panose="02010803020104030203" pitchFamily="2" charset="-79"/>
              </a:rPr>
              <a:t>Live Coding Practice Cleaning Data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49946B7-5966-D902-064E-EEC9FB14789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6"/>
            <a:ext cx="10888066" cy="3978587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EBC43B4-DB38-ED89-77F2-77068522D024}"/>
              </a:ext>
            </a:extLst>
          </p:cNvPr>
          <p:cNvCxnSpPr/>
          <p:nvPr/>
        </p:nvCxnSpPr>
        <p:spPr>
          <a:xfrm>
            <a:off x="838200" y="1386258"/>
            <a:ext cx="10542494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00155A8A-8373-77F9-6FDB-A21B41E3AEF8}"/>
              </a:ext>
            </a:extLst>
          </p:cNvPr>
          <p:cNvSpPr txBox="1"/>
          <p:nvPr/>
        </p:nvSpPr>
        <p:spPr>
          <a:xfrm>
            <a:off x="838200" y="5884433"/>
            <a:ext cx="102206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should we do to clean this data and what commands should we use? </a:t>
            </a:r>
          </a:p>
        </p:txBody>
      </p:sp>
    </p:spTree>
    <p:extLst>
      <p:ext uri="{BB962C8B-B14F-4D97-AF65-F5344CB8AC3E}">
        <p14:creationId xmlns:p14="http://schemas.microsoft.com/office/powerpoint/2010/main" val="37011384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D6364-D3EF-841B-D853-356A45221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1469E-7315-871C-1F60-7B6502298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Solution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D739355-4B06-3375-7AA3-1282F5A95D7E}"/>
              </a:ext>
            </a:extLst>
          </p:cNvPr>
          <p:cNvCxnSpPr/>
          <p:nvPr/>
        </p:nvCxnSpPr>
        <p:spPr>
          <a:xfrm>
            <a:off x="838200" y="1386258"/>
            <a:ext cx="10542494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43882DA2-0B42-6FD9-2F10-E39964EB06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0952"/>
          <a:stretch>
            <a:fillRect/>
          </a:stretch>
        </p:blipFill>
        <p:spPr>
          <a:xfrm>
            <a:off x="838200" y="1541333"/>
            <a:ext cx="10519856" cy="4020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03419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8F450-642A-B1FC-0F32-275D98C5C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38022-2C28-CE5E-3CCF-374B4895D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haroni" panose="02010803020104030203" pitchFamily="2" charset="-79"/>
                <a:cs typeface="Aharoni" panose="02010803020104030203" pitchFamily="2" charset="-79"/>
              </a:rPr>
              <a:t>Personal Practice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F82019-8D0B-E33F-42AC-36293A5A31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Download the Live Coding 1 data on the course materials page.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Try on your own to do the following: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Rename all the variables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Make categorical variables for age, experience, legislator’s activeness using committee membership and bill sponsorship, and electoral outcome (let’s assume each district has 60,000 voters)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Remove NAs from any variables where there are NAs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Make the data set only has their name, party, years served, bills sponsored, and the categorical variables from above</a:t>
            </a: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27B0862-FCFA-4F92-7C91-E18FDF49740A}"/>
              </a:ext>
            </a:extLst>
          </p:cNvPr>
          <p:cNvCxnSpPr/>
          <p:nvPr/>
        </p:nvCxnSpPr>
        <p:spPr>
          <a:xfrm>
            <a:off x="838200" y="1386258"/>
            <a:ext cx="10542494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37877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D8FB4-B34B-B581-8568-370816313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30647-1895-7CB3-0F5D-74AB2C30D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haroni" panose="02010803020104030203" pitchFamily="2" charset="-79"/>
                <a:cs typeface="Aharoni" panose="02010803020104030203" pitchFamily="2" charset="-79"/>
              </a:rPr>
              <a:t>Aggregating Data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EF1499-D8EE-DB26-954F-FEFBF3F09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some applications, it is useful to get aggregate (summarized) level information about our data.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can use 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group_by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 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summarize()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accomplish this.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group_by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works similarly to 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row_wise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the homework, let’s start there. 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792B4E2-A692-7811-7473-5AD437520DEB}"/>
              </a:ext>
            </a:extLst>
          </p:cNvPr>
          <p:cNvCxnSpPr/>
          <p:nvPr/>
        </p:nvCxnSpPr>
        <p:spPr>
          <a:xfrm>
            <a:off x="838200" y="1386258"/>
            <a:ext cx="10542494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AEA2C3C8-DE2B-A93F-EBBD-DC3D2E1C02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108869"/>
            <a:ext cx="10782275" cy="2491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0206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E6053-727A-BAEE-72E6-4FA3CE40F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CFCFF-9AF5-4477-2557-1E0AB3B06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haroni" panose="02010803020104030203" pitchFamily="2" charset="-79"/>
                <a:cs typeface="Aharoni" panose="02010803020104030203" pitchFamily="2" charset="-79"/>
              </a:rPr>
              <a:t>Aggregating Data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0F28206-66F5-0C96-A4B5-EF943168483B}"/>
              </a:ext>
            </a:extLst>
          </p:cNvPr>
          <p:cNvCxnSpPr/>
          <p:nvPr/>
        </p:nvCxnSpPr>
        <p:spPr>
          <a:xfrm>
            <a:off x="838200" y="1386258"/>
            <a:ext cx="10542494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4699A8B-8FE2-C0E4-EAB3-E44D11469550}"/>
              </a:ext>
            </a:extLst>
          </p:cNvPr>
          <p:cNvSpPr txBox="1"/>
          <p:nvPr/>
        </p:nvSpPr>
        <p:spPr>
          <a:xfrm>
            <a:off x="838200" y="4182310"/>
            <a:ext cx="101982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n()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counts the number of the variable you group by.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code counts the number of people in each party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5C1C5B81-12BF-7FBA-8C6A-A5A5BAF001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479920"/>
            <a:ext cx="10515600" cy="2608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3860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03F1E-1F4D-A860-4E39-09274D173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3A10C-D651-EC22-6A0D-07DF96217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haroni" panose="02010803020104030203" pitchFamily="2" charset="-79"/>
                <a:cs typeface="Aharoni" panose="02010803020104030203" pitchFamily="2" charset="-79"/>
              </a:rPr>
              <a:t>Aggregating Data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E0EEDC4-3EC6-0C85-A691-A8E8E4EA4F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10657335" cy="2596711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0519E84-B54D-2CD2-1CFA-50CB14719BB4}"/>
              </a:ext>
            </a:extLst>
          </p:cNvPr>
          <p:cNvCxnSpPr/>
          <p:nvPr/>
        </p:nvCxnSpPr>
        <p:spPr>
          <a:xfrm>
            <a:off x="838200" y="1386258"/>
            <a:ext cx="10542494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DE6303E6-5E98-E63B-DE3B-4E41209873E9}"/>
              </a:ext>
            </a:extLst>
          </p:cNvPr>
          <p:cNvSpPr txBox="1"/>
          <p:nvPr/>
        </p:nvSpPr>
        <p:spPr>
          <a:xfrm>
            <a:off x="838200" y="4591828"/>
            <a:ext cx="101982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code estimates the average number of bills passed by each party. </a:t>
            </a:r>
          </a:p>
        </p:txBody>
      </p:sp>
    </p:spTree>
    <p:extLst>
      <p:ext uri="{BB962C8B-B14F-4D97-AF65-F5344CB8AC3E}">
        <p14:creationId xmlns:p14="http://schemas.microsoft.com/office/powerpoint/2010/main" val="19217060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4E655-55EC-2F7F-6970-4280F1FAB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1C6FA-C2F5-A191-D6DE-3D793C357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haroni" panose="02010803020104030203" pitchFamily="2" charset="-79"/>
                <a:cs typeface="Aharoni" panose="02010803020104030203" pitchFamily="2" charset="-79"/>
              </a:rPr>
              <a:t>Aggregating Data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A68E129-6442-C394-40CB-EE0896269609}"/>
              </a:ext>
            </a:extLst>
          </p:cNvPr>
          <p:cNvCxnSpPr/>
          <p:nvPr/>
        </p:nvCxnSpPr>
        <p:spPr>
          <a:xfrm>
            <a:off x="838200" y="1386258"/>
            <a:ext cx="10542494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4ABEF29-1CC4-1417-53CF-15A6D7340F82}"/>
              </a:ext>
            </a:extLst>
          </p:cNvPr>
          <p:cNvSpPr txBox="1"/>
          <p:nvPr/>
        </p:nvSpPr>
        <p:spPr>
          <a:xfrm>
            <a:off x="838200" y="5280510"/>
            <a:ext cx="101982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code creates a new age category and then counts the number of people in each category.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5469CEE-7DEA-AB55-E7FD-F9F94BA6CF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306" y="1577490"/>
            <a:ext cx="10515600" cy="341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47838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1DD58-8A51-A68C-B202-00F0EE66B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860AD-D547-B767-116D-0AE3DDB69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haroni" panose="02010803020104030203" pitchFamily="2" charset="-79"/>
                <a:cs typeface="Aharoni" panose="02010803020104030203" pitchFamily="2" charset="-79"/>
              </a:rPr>
              <a:t>Aggregating Data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EED4828-C4DB-7802-D49B-FCBAE74F87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541005"/>
            <a:ext cx="10515600" cy="3451480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1B04654-4002-26CE-736F-899789F97356}"/>
              </a:ext>
            </a:extLst>
          </p:cNvPr>
          <p:cNvCxnSpPr/>
          <p:nvPr/>
        </p:nvCxnSpPr>
        <p:spPr>
          <a:xfrm>
            <a:off x="838200" y="1386258"/>
            <a:ext cx="10542494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AB21E0D-1024-AFAB-E22C-D4D1E3CDD7C4}"/>
              </a:ext>
            </a:extLst>
          </p:cNvPr>
          <p:cNvSpPr txBox="1"/>
          <p:nvPr/>
        </p:nvSpPr>
        <p:spPr>
          <a:xfrm>
            <a:off x="838200" y="5280510"/>
            <a:ext cx="101982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categories are ordered in a strange way. How would we fix this? </a:t>
            </a:r>
          </a:p>
        </p:txBody>
      </p:sp>
    </p:spTree>
    <p:extLst>
      <p:ext uri="{BB962C8B-B14F-4D97-AF65-F5344CB8AC3E}">
        <p14:creationId xmlns:p14="http://schemas.microsoft.com/office/powerpoint/2010/main" val="6526909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58BF0-340D-B1E3-17DF-DA938FBE4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5C724-E633-FBEE-9D30-48AA596E5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haroni" panose="02010803020104030203" pitchFamily="2" charset="-79"/>
                <a:cs typeface="Aharoni" panose="02010803020104030203" pitchFamily="2" charset="-79"/>
              </a:rPr>
              <a:t>Solution: Change to a Factor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F30EA3C-BD11-5E94-726E-B154EEF7A1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572354"/>
            <a:ext cx="10515600" cy="4021850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7B75B5D-2534-4204-8AC5-93E4A06B5BDF}"/>
              </a:ext>
            </a:extLst>
          </p:cNvPr>
          <p:cNvCxnSpPr/>
          <p:nvPr/>
        </p:nvCxnSpPr>
        <p:spPr>
          <a:xfrm>
            <a:off x="838200" y="1386258"/>
            <a:ext cx="10542494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87879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AC4D4-F54D-9E38-8299-3046E1ABD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D0930-7E8C-E02D-76BA-37BD08DE9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haroni" panose="02010803020104030203" pitchFamily="2" charset="-79"/>
                <a:cs typeface="Aharoni" panose="02010803020104030203" pitchFamily="2" charset="-79"/>
              </a:rPr>
              <a:t>Practice Aggregating Data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465ADC-F6FA-8D0B-21EE-E84BA05D47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the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real_congress2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to do the following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Calculate the average number of votes received and age by party.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Calculate the average number of years served by age category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 a new variable called region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Put Florida and New York in the East, California and Texas in the West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Calculate the number of bills passed by region</a:t>
            </a: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D7A4F28-3844-FDFD-5DC4-D1D53AF93DD1}"/>
              </a:ext>
            </a:extLst>
          </p:cNvPr>
          <p:cNvCxnSpPr/>
          <p:nvPr/>
        </p:nvCxnSpPr>
        <p:spPr>
          <a:xfrm>
            <a:off x="838200" y="1386258"/>
            <a:ext cx="10542494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00242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07174-3DA6-AA53-DDC1-6C90E6743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4FC2C-479D-6952-D716-4EFD50401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haroni" panose="02010803020104030203" pitchFamily="2" charset="-79"/>
                <a:cs typeface="Aharoni" panose="02010803020104030203" pitchFamily="2" charset="-79"/>
              </a:rPr>
              <a:t>Data Structure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ECDD7-6B10-5FB2-2726-E996372944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When performing operations with data, it is important to understand the dimensions of the data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do so, we can use several functions such as 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summary()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or 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names()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is also important to be able to take a closer look at a single variable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can also be stored in different types of objects (we’ve covered vectors and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dataframes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tibbles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lists are another way data can be stored)</a:t>
            </a: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BF1F9D0-FE02-55EE-4DF1-5FAD10BF7037}"/>
              </a:ext>
            </a:extLst>
          </p:cNvPr>
          <p:cNvCxnSpPr/>
          <p:nvPr/>
        </p:nvCxnSpPr>
        <p:spPr>
          <a:xfrm>
            <a:off x="838200" y="1386258"/>
            <a:ext cx="10542494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53851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C6291-77F1-FF26-4FF7-5B5D06623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568AE-8369-B4FD-62A0-8DF4A5FA8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haroni" panose="02010803020104030203" pitchFamily="2" charset="-79"/>
                <a:cs typeface="Aharoni" panose="02010803020104030203" pitchFamily="2" charset="-79"/>
              </a:rPr>
              <a:t>Summary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6B0B2A-ECEE-7042-C4F2-B4ECA97DF2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 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summary()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 a full dataset will give you summary statistics for each variable in the data. 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2C4A51F-9923-F6B1-81C2-0BF5EEDA97F4}"/>
              </a:ext>
            </a:extLst>
          </p:cNvPr>
          <p:cNvCxnSpPr/>
          <p:nvPr/>
        </p:nvCxnSpPr>
        <p:spPr>
          <a:xfrm>
            <a:off x="838200" y="1386258"/>
            <a:ext cx="10542494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7FA9CB43-ABAE-A3C2-0C83-2EF99057B8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121" y="2711820"/>
            <a:ext cx="11882801" cy="231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34333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A567E-FE29-0D43-C7CD-5F2EA98AE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42C58-9A1B-2019-C7FF-63EF3D317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haroni" panose="02010803020104030203" pitchFamily="2" charset="-79"/>
                <a:cs typeface="Aharoni" panose="02010803020104030203" pitchFamily="2" charset="-79"/>
              </a:rPr>
              <a:t>Data Dimensions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4C7A79-F4B7-8CED-9577-A0C687EBA0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we just want the names of columns for each variable, we can use the 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names()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Additionally, it might be useful to know the dimensions of our data. To do this, we can use the 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nrow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 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ncol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21AB79A-6AB2-09B7-702A-6BFC94E02A27}"/>
              </a:ext>
            </a:extLst>
          </p:cNvPr>
          <p:cNvCxnSpPr/>
          <p:nvPr/>
        </p:nvCxnSpPr>
        <p:spPr>
          <a:xfrm>
            <a:off x="838200" y="1386258"/>
            <a:ext cx="10542494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A8D10A26-2350-1DE1-06DD-47768AE34B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752161"/>
            <a:ext cx="10515600" cy="71722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CD18173-3105-B739-703F-BD020A630C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713552"/>
            <a:ext cx="10515600" cy="1094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8150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F56D31-0AAF-EDC1-A86C-AF2F8C1A7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23E80-CB41-17CA-7B69-C4AC0555AB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haroni" panose="02010803020104030203" pitchFamily="2" charset="-79"/>
                <a:cs typeface="Aharoni" panose="02010803020104030203" pitchFamily="2" charset="-79"/>
              </a:rPr>
              <a:t>Summarizing Single Variable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85E78-2FEA-5C05-795E-2628F966CF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3650"/>
            <a:ext cx="10515600" cy="4563313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we want to analyze just a single variable, or apply a function to a single variable, we can use the 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to pull a single variable from a dataset: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can also use this format to create frequency tables of our data, using the 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table() 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fontAlgn="base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get the dimensions of a single variable, we can use the 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length() 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function: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EACD6FD-495D-C259-B961-D58AF0CD8BFB}"/>
              </a:ext>
            </a:extLst>
          </p:cNvPr>
          <p:cNvCxnSpPr/>
          <p:nvPr/>
        </p:nvCxnSpPr>
        <p:spPr>
          <a:xfrm>
            <a:off x="838200" y="1386258"/>
            <a:ext cx="10542494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4AA70812-9F4E-A7B2-EFBD-C299A0FF1B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370961"/>
            <a:ext cx="10515600" cy="83740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AB6B389-B8AF-8A54-1899-6D3DA2D346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092819"/>
            <a:ext cx="10565440" cy="119968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17D9AB-E327-BFD8-D529-C1FCDD6062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5914923"/>
            <a:ext cx="10515600" cy="591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12133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DF82A-6D5F-E37A-126F-C11958100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81EF8AD-30A0-4596-8347-96AE6FCB1D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89310" y="1792"/>
            <a:ext cx="10972799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6EB53BB-156A-E5A4-5E5C-AEE277A17B20}"/>
              </a:ext>
            </a:extLst>
          </p:cNvPr>
          <p:cNvSpPr/>
          <p:nvPr/>
        </p:nvSpPr>
        <p:spPr>
          <a:xfrm>
            <a:off x="8788998" y="2302136"/>
            <a:ext cx="2796988" cy="34424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45BDF13-60D2-C9CC-2C62-66462D295D9E}"/>
              </a:ext>
            </a:extLst>
          </p:cNvPr>
          <p:cNvSpPr/>
          <p:nvPr/>
        </p:nvSpPr>
        <p:spPr>
          <a:xfrm>
            <a:off x="689310" y="4928795"/>
            <a:ext cx="1440704" cy="34424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2521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61855-ECE2-FCBF-9141-4F0701F9B0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1CBD7-3ACB-CADB-B9D4-3D4EF0898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haroni" panose="02010803020104030203" pitchFamily="2" charset="-79"/>
                <a:cs typeface="Aharoni" panose="02010803020104030203" pitchFamily="2" charset="-79"/>
              </a:rPr>
              <a:t>Practice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913138-4950-429D-A083-5BF61F2C58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 the live coding data from earlier, answer the following questions (feel free to work together!):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many rows does our data have?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many columns?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the mean, median, and 3rd quantile of number bills a member of Congress has sponsored, and number of years served in congress?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the number of members of Congress in each party?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the average number of bills sponsored by age category?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the median number of bills sponsored by party?</a:t>
            </a: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63D889E-EB29-3B09-4F0D-32A86E80DD73}"/>
              </a:ext>
            </a:extLst>
          </p:cNvPr>
          <p:cNvCxnSpPr/>
          <p:nvPr/>
        </p:nvCxnSpPr>
        <p:spPr>
          <a:xfrm>
            <a:off x="838200" y="1386258"/>
            <a:ext cx="10542494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79036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A3C68-5345-6658-8C03-E0FF49219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5ABB-56CB-7BE3-3D97-6664B67E3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haroni" panose="02010803020104030203" pitchFamily="2" charset="-79"/>
                <a:cs typeface="Aharoni" panose="02010803020104030203" pitchFamily="2" charset="-79"/>
              </a:rPr>
              <a:t>More on Vectors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374F25-040A-3A8E-0EF2-BE9BFDBBC7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 the first day, we created short numerical, character, or factor vectors.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When running simulations, we will want larger numeric vectors.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Therefore, we can use commands that generate random variables to create a long vector of numbers we can use in our simulations. </a:t>
            </a: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B78F01E-85AC-1FE0-A296-D70E59E53737}"/>
              </a:ext>
            </a:extLst>
          </p:cNvPr>
          <p:cNvCxnSpPr/>
          <p:nvPr/>
        </p:nvCxnSpPr>
        <p:spPr>
          <a:xfrm>
            <a:off x="838200" y="1386258"/>
            <a:ext cx="10542494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39416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D7C5E-B67C-D8AB-B57A-2645159DC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344CE-CFE6-5263-1395-37639DF64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haroni" panose="02010803020104030203" pitchFamily="2" charset="-79"/>
                <a:cs typeface="Aharoni" panose="02010803020104030203" pitchFamily="2" charset="-79"/>
              </a:rPr>
              <a:t>Vectors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FE370A-ECD7-C203-91E2-57587F035C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7345A5C-0FBD-6A39-9E04-86447BC20D77}"/>
              </a:ext>
            </a:extLst>
          </p:cNvPr>
          <p:cNvCxnSpPr/>
          <p:nvPr/>
        </p:nvCxnSpPr>
        <p:spPr>
          <a:xfrm>
            <a:off x="838200" y="1386258"/>
            <a:ext cx="10542494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1426C2B5-4EBF-5D7F-2D69-C38350E602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533801"/>
            <a:ext cx="10542493" cy="340519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068B4D4-0AC0-8B56-5302-F7705F92C40F}"/>
              </a:ext>
            </a:extLst>
          </p:cNvPr>
          <p:cNvSpPr txBox="1">
            <a:spLocks/>
          </p:cNvSpPr>
          <p:nvPr/>
        </p:nvSpPr>
        <p:spPr>
          <a:xfrm>
            <a:off x="838199" y="1978024"/>
            <a:ext cx="10668001" cy="451484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You want use the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set.seed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command first to make sure that your code is reproducible.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ensures that you get the same random set of numbers each time you run your code. </a:t>
            </a: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can use a command like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rnorm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create a random vector of numbers.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we do not set the seed first, it will give us a different set each time. </a:t>
            </a: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BEFFEC2-532F-4DE8-4B11-839AC69C09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415" y="3310454"/>
            <a:ext cx="10569385" cy="92499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E9215AC-D65E-F8B1-BC34-B3E20089A2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77" y="4541883"/>
            <a:ext cx="10634735" cy="548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87893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460E0-2DF7-C10B-43CF-490D9387E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E1E61-074E-D10C-D1B7-BCF3E267B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rnorm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runif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rbinom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C74339-8286-319E-90D7-0618C536C2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86258"/>
            <a:ext cx="10515600" cy="4790705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 a command that takes the form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 + distribution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57E1A34-09D9-2646-65C8-CB4C59EE1313}"/>
              </a:ext>
            </a:extLst>
          </p:cNvPr>
          <p:cNvCxnSpPr/>
          <p:nvPr/>
        </p:nvCxnSpPr>
        <p:spPr>
          <a:xfrm>
            <a:off x="838200" y="1386258"/>
            <a:ext cx="10542494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D25BDB47-9D15-7A88-2226-C90EA5EBE4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988734"/>
            <a:ext cx="10572438" cy="3483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19157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A4F1C-9F2F-937B-D7E8-2B4CC2321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0A483-D4B7-A8F0-11D1-AAECC0266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rnorm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runif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rbinom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581E4D-BBFF-19D7-3455-31F01269B2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86258"/>
            <a:ext cx="10515600" cy="4790705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You can also change the features of each distribution</a:t>
            </a: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42BD1E0-72E2-67D2-BD43-2422695BBA96}"/>
              </a:ext>
            </a:extLst>
          </p:cNvPr>
          <p:cNvCxnSpPr/>
          <p:nvPr/>
        </p:nvCxnSpPr>
        <p:spPr>
          <a:xfrm>
            <a:off x="838200" y="1386258"/>
            <a:ext cx="10542494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FC609261-29E9-F716-8A36-758AFF1E4D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94517"/>
            <a:ext cx="10634972" cy="3577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30065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6F791-7871-1EA2-27A8-B03EBE4FF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50E2B-4C87-6F24-8F4D-10EDEC603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Practice with 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64D38-1BEA-0250-2677-E695201905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86258"/>
            <a:ext cx="10515600" cy="4790705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 the following: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 a vector,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that has 10,000 values with a normal distribution, mean = 40, and standard deviation =  15.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 another vector,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vote_margin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that has 10,000 values with a uniform distribution.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 one more vector,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gender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that has 10,000 values with a binomial distribution and a probability = 0.5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Combine all three vectors into a single data frame.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Find the mean of age to see how closely it matches 40</a:t>
            </a: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B7DE002-05AD-3F29-F2D5-0D2037EAC930}"/>
              </a:ext>
            </a:extLst>
          </p:cNvPr>
          <p:cNvCxnSpPr/>
          <p:nvPr/>
        </p:nvCxnSpPr>
        <p:spPr>
          <a:xfrm>
            <a:off x="838200" y="1386258"/>
            <a:ext cx="10542494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7877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B0B5C-9D81-805F-C60D-24DC76F25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D0DA1-E2F1-5B94-596E-8D1835AA4B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haroni" panose="02010803020104030203" pitchFamily="2" charset="-79"/>
                <a:cs typeface="Aharoni" panose="02010803020104030203" pitchFamily="2" charset="-79"/>
              </a:rPr>
              <a:t>Lists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773F59-611B-99A9-2826-0D819E5B42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Lists are incredibly useful for certain tasks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One benefit of lists is that multiple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dataframes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can be stored together, which is helpful for any iterative process (covered more in day 4)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Lists can also store multiple vectors together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BDE0BC0-7D4D-DBAF-C8BF-9ACA8EE8483F}"/>
              </a:ext>
            </a:extLst>
          </p:cNvPr>
          <p:cNvCxnSpPr/>
          <p:nvPr/>
        </p:nvCxnSpPr>
        <p:spPr>
          <a:xfrm>
            <a:off x="838200" y="1386258"/>
            <a:ext cx="10542494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1A403639-645D-2375-6556-9A543007C1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850686"/>
            <a:ext cx="10515599" cy="2095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8969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80724-B497-9FF7-41C4-810EE9AA3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423304-5287-2C16-9387-0EB942685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9667"/>
            <a:ext cx="10515600" cy="1325563"/>
          </a:xfrm>
        </p:spPr>
        <p:txBody>
          <a:bodyPr/>
          <a:lstStyle/>
          <a:p>
            <a:r>
              <a:rPr lang="en-US" b="1" dirty="0">
                <a:latin typeface="Aharoni" panose="02010803020104030203" pitchFamily="2" charset="-79"/>
                <a:cs typeface="Aharoni" panose="02010803020104030203" pitchFamily="2" charset="-79"/>
              </a:rPr>
              <a:t>Using Lists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249C8-CE0F-07BA-31CF-47F1905250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42013"/>
            <a:ext cx="10683240" cy="5134950"/>
          </a:xfrm>
        </p:spPr>
        <p:txBody>
          <a:bodyPr>
            <a:normAutofit/>
          </a:bodyPr>
          <a:lstStyle/>
          <a:p>
            <a:pPr lvl="0" fontAlgn="base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 lists, we can extract a single item from the list, using brackets like so:</a:t>
            </a:r>
          </a:p>
          <a:p>
            <a:pPr lvl="0" fontAlgn="base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fontAlgn="base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fontAlgn="base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needed, we can also merge them using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bind_rows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and/or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bind_cols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depending on our application. </a:t>
            </a:r>
          </a:p>
          <a:p>
            <a:pPr marL="0" lvl="0" indent="0" fontAlgn="base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fontAlgn="base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7A9C69B-A296-7C3D-37A7-D35CEFD9F6FE}"/>
              </a:ext>
            </a:extLst>
          </p:cNvPr>
          <p:cNvCxnSpPr/>
          <p:nvPr/>
        </p:nvCxnSpPr>
        <p:spPr>
          <a:xfrm>
            <a:off x="811306" y="1042013"/>
            <a:ext cx="10542494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E5B6121F-ABA0-A699-C02B-C2AE63F519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65250"/>
            <a:ext cx="10542494" cy="52844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B5A0456-6C00-024C-1BEB-61CFC881FD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934649"/>
            <a:ext cx="10515600" cy="3787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66556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46EEC-DBDF-AA52-068F-47933330F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7E50D-8146-970B-BAAB-B7977308D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haroni" panose="02010803020104030203" pitchFamily="2" charset="-79"/>
                <a:cs typeface="Aharoni" panose="02010803020104030203" pitchFamily="2" charset="-79"/>
              </a:rPr>
              <a:t>Adding Items to Lists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93A41C-68CF-5BB4-755B-9D51FD586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can also add items to lists using the following approach: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577C2B7-9B85-65AA-F87D-E29679599AF2}"/>
              </a:ext>
            </a:extLst>
          </p:cNvPr>
          <p:cNvCxnSpPr/>
          <p:nvPr/>
        </p:nvCxnSpPr>
        <p:spPr>
          <a:xfrm>
            <a:off x="838200" y="1386258"/>
            <a:ext cx="10542494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A55F973D-C686-56BE-3F5F-17189873A3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66022"/>
            <a:ext cx="10531080" cy="3001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1880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DAED7-FFA8-FC6D-4640-033A97348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B8C7D-027E-8645-9613-13528DB85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306" y="-147616"/>
            <a:ext cx="10515600" cy="1325563"/>
          </a:xfrm>
        </p:spPr>
        <p:txBody>
          <a:bodyPr/>
          <a:lstStyle/>
          <a:p>
            <a:r>
              <a:rPr lang="en-US" b="1" dirty="0" err="1">
                <a:latin typeface="Aharoni" panose="02010803020104030203" pitchFamily="2" charset="-79"/>
                <a:cs typeface="Aharoni" panose="02010803020104030203" pitchFamily="2" charset="-79"/>
              </a:rPr>
              <a:t>Dataframes</a:t>
            </a:r>
            <a:r>
              <a:rPr lang="en-US" b="1" dirty="0">
                <a:latin typeface="Aharoni" panose="02010803020104030203" pitchFamily="2" charset="-79"/>
                <a:cs typeface="Aharoni" panose="02010803020104030203" pitchFamily="2" charset="-79"/>
              </a:rPr>
              <a:t> and Lists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80F882-4032-6CB8-A26C-2CF8B5627B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6828"/>
            <a:ext cx="10515600" cy="4790705"/>
          </a:xfrm>
        </p:spPr>
        <p:txBody>
          <a:bodyPr/>
          <a:lstStyle/>
          <a:p>
            <a:pPr lvl="0" fontAlgn="base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Lists can be made of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dataframes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or vectors</a:t>
            </a: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00C78B2-B30F-D84A-6490-30902DB5A4A3}"/>
              </a:ext>
            </a:extLst>
          </p:cNvPr>
          <p:cNvCxnSpPr/>
          <p:nvPr/>
        </p:nvCxnSpPr>
        <p:spPr>
          <a:xfrm>
            <a:off x="824753" y="826861"/>
            <a:ext cx="10542494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1D52FC88-9F82-CFF6-242E-267EABF069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004" y="1501665"/>
            <a:ext cx="9526793" cy="5204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83110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514A2-0716-3A6A-C3AB-35CDAD369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86AF0-5C37-8B41-80BB-03A09334D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71402"/>
            <a:ext cx="10515600" cy="1325563"/>
          </a:xfrm>
        </p:spPr>
        <p:txBody>
          <a:bodyPr/>
          <a:lstStyle/>
          <a:p>
            <a:r>
              <a:rPr lang="en-US" b="1" dirty="0">
                <a:latin typeface="Aharoni" panose="02010803020104030203" pitchFamily="2" charset="-79"/>
                <a:cs typeface="Aharoni" panose="02010803020104030203" pitchFamily="2" charset="-79"/>
              </a:rPr>
              <a:t>Working with </a:t>
            </a:r>
            <a:r>
              <a:rPr lang="en-US" b="1" dirty="0" err="1">
                <a:latin typeface="Aharoni" panose="02010803020104030203" pitchFamily="2" charset="-79"/>
                <a:cs typeface="Aharoni" panose="02010803020104030203" pitchFamily="2" charset="-79"/>
              </a:rPr>
              <a:t>Dataframes</a:t>
            </a:r>
            <a:r>
              <a:rPr lang="en-US" b="1" dirty="0">
                <a:latin typeface="Aharoni" panose="02010803020104030203" pitchFamily="2" charset="-79"/>
                <a:cs typeface="Aharoni" panose="02010803020104030203" pitchFamily="2" charset="-79"/>
              </a:rPr>
              <a:t> in Lists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BBD2F7-3447-186E-D90D-9662498E97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3530"/>
            <a:ext cx="10515600" cy="4809004"/>
          </a:xfrm>
        </p:spPr>
        <p:txBody>
          <a:bodyPr>
            <a:normAutofit/>
          </a:bodyPr>
          <a:lstStyle/>
          <a:p>
            <a:pPr lvl="0" fontAlgn="base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can add in objects the exact same way we did with vectors</a:t>
            </a:r>
          </a:p>
          <a:p>
            <a:pPr lvl="0" fontAlgn="base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can also combine these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dataframes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using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bind_rows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bind_cols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E737ED3-80B8-2E44-E248-853F1F03C89D}"/>
              </a:ext>
            </a:extLst>
          </p:cNvPr>
          <p:cNvCxnSpPr/>
          <p:nvPr/>
        </p:nvCxnSpPr>
        <p:spPr>
          <a:xfrm>
            <a:off x="838200" y="1063529"/>
            <a:ext cx="10542494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926F6738-915D-A8CA-AA9D-E421E017410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1025"/>
          <a:stretch>
            <a:fillRect/>
          </a:stretch>
        </p:blipFill>
        <p:spPr>
          <a:xfrm>
            <a:off x="838200" y="2127124"/>
            <a:ext cx="10530410" cy="333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1786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4400</TotalTime>
  <Words>1529</Words>
  <Application>Microsoft Macintosh PowerPoint</Application>
  <PresentationFormat>Widescreen</PresentationFormat>
  <Paragraphs>176</Paragraphs>
  <Slides>36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3" baseType="lpstr">
      <vt:lpstr>Aharoni</vt:lpstr>
      <vt:lpstr>Aptos</vt:lpstr>
      <vt:lpstr>Aptos Display</vt:lpstr>
      <vt:lpstr>Arial</vt:lpstr>
      <vt:lpstr>Courier New</vt:lpstr>
      <vt:lpstr>Times New Roman</vt:lpstr>
      <vt:lpstr>Office Theme</vt:lpstr>
      <vt:lpstr>Reading Data into R and Aggregating Data</vt:lpstr>
      <vt:lpstr>Questions about the  homework?</vt:lpstr>
      <vt:lpstr>Write the code to import the data with read_csv() or read.csv()</vt:lpstr>
      <vt:lpstr>Recommendation: use all lowercase letters for variables</vt:lpstr>
      <vt:lpstr>Solution: All of the cleaning can be done in one chunk of code</vt:lpstr>
      <vt:lpstr>Review</vt:lpstr>
      <vt:lpstr>As Promised… Rainbow Parentheses </vt:lpstr>
      <vt:lpstr>Creating an R Project</vt:lpstr>
      <vt:lpstr>Other Forms of Data</vt:lpstr>
      <vt:lpstr>Cleaning Data</vt:lpstr>
      <vt:lpstr>Live Coding Practice Cleaning Data</vt:lpstr>
      <vt:lpstr>Solution</vt:lpstr>
      <vt:lpstr>Personal Practice</vt:lpstr>
      <vt:lpstr>Aggregating Data</vt:lpstr>
      <vt:lpstr>Aggregating Data</vt:lpstr>
      <vt:lpstr>Aggregating Data</vt:lpstr>
      <vt:lpstr>Aggregating Data</vt:lpstr>
      <vt:lpstr>Aggregating Data</vt:lpstr>
      <vt:lpstr>Solution: Change to a Factor</vt:lpstr>
      <vt:lpstr>Practice Aggregating Data</vt:lpstr>
      <vt:lpstr>Data Structure</vt:lpstr>
      <vt:lpstr>Summary</vt:lpstr>
      <vt:lpstr>Data Dimensions</vt:lpstr>
      <vt:lpstr>Summarizing Single Variable</vt:lpstr>
      <vt:lpstr>PowerPoint Presentation</vt:lpstr>
      <vt:lpstr>Practice</vt:lpstr>
      <vt:lpstr>More on Vectors</vt:lpstr>
      <vt:lpstr>Vectors</vt:lpstr>
      <vt:lpstr>rnorm, runif, rbinom</vt:lpstr>
      <vt:lpstr>rnorm, runif, rbinom</vt:lpstr>
      <vt:lpstr>Practice with Vectors</vt:lpstr>
      <vt:lpstr>Lists</vt:lpstr>
      <vt:lpstr>Using Lists</vt:lpstr>
      <vt:lpstr>Adding Items to Lists</vt:lpstr>
      <vt:lpstr>Dataframes and Lists</vt:lpstr>
      <vt:lpstr>Working with Dataframes in Lists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Taylor Hill</dc:creator>
  <cp:lastModifiedBy>Taylor Hill</cp:lastModifiedBy>
  <cp:revision>7</cp:revision>
  <dcterms:created xsi:type="dcterms:W3CDTF">2026-08-05T16:50:30Z</dcterms:created>
  <dcterms:modified xsi:type="dcterms:W3CDTF">2026-08-13T12:44:10Z</dcterms:modified>
</cp:coreProperties>
</file>