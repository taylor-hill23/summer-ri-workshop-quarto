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1" Type="http://schemas.openxmlformats.org/officeDocument/2006/relationships/viewProps" Target="viewProps.xml" /><Relationship Id="rId7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3" Type="http://schemas.openxmlformats.org/officeDocument/2006/relationships/tableStyles" Target="tableStyles.xml" /><Relationship Id="rId7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So You’re About to Be a Grad Student?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1 of the RI Workshop, Summer 2026</a:t>
            </a:r>
            <a:br/>
            <a:br/>
            <a:r>
              <a:rPr/>
              <a:t>Taylor Hill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This Workshop?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workshop is an introduction to using R.</a:t>
            </a:r>
          </a:p>
          <a:p>
            <a:pPr lvl="0"/>
            <a:r>
              <a:rPr/>
              <a:t>No prior knowledge is assumed.</a:t>
            </a:r>
          </a:p>
          <a:p>
            <a:pPr lvl="0"/>
            <a:r>
              <a:rPr/>
              <a:t>The goal is to make your time in POS 5737 and future methods courses a little easier.</a:t>
            </a:r>
          </a:p>
          <a:p>
            <a:pPr lvl="1"/>
            <a:r>
              <a:rPr/>
              <a:t>R is fairly complicated to use, but we’re going to get as far as we can this week!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Introductions!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Taylor</a:t>
            </a:r>
          </a:p>
          <a:p>
            <a:pPr lvl="0"/>
            <a:r>
              <a:rPr/>
              <a:t>Rexburg, Idaho</a:t>
            </a:r>
          </a:p>
          <a:p>
            <a:pPr lvl="0"/>
            <a:r>
              <a:rPr/>
              <a:t>American Behaviorist</a:t>
            </a:r>
          </a:p>
          <a:p>
            <a:pPr lvl="0"/>
            <a:r>
              <a:rPr/>
              <a:t>Research interest: voting behavior, democratic backsliding, public opinion, experimental methods, political psychology</a:t>
            </a:r>
          </a:p>
          <a:p>
            <a:pPr lvl="0"/>
            <a:r>
              <a:rPr/>
              <a:t>I am starting my thrid-year in the program.</a:t>
            </a:r>
          </a:p>
          <a:p>
            <a:pPr lvl="0"/>
            <a:r>
              <a:rPr/>
              <a:t>I am married with a 2 year old daughter and a baby girl on the way in September.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Ground Rules for the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ask questions–feel free to interrupt at any time. The material will build fast so please make sure you understand each step before we move to the next one.</a:t>
            </a:r>
          </a:p>
          <a:p>
            <a:pPr lvl="0"/>
            <a:r>
              <a:rPr/>
              <a:t>Look into Stack Exchange–this is a great resource when you run into coding issues.</a:t>
            </a:r>
          </a:p>
          <a:p>
            <a:pPr lvl="0"/>
            <a:r>
              <a:rPr/>
              <a:t>Use the Help function in RStudio–we will talk more about how to do this.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Today’s Class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Welcome to graduate school and tips for making it manageable</a:t>
            </a:r>
          </a:p>
          <a:p>
            <a:pPr lvl="0"/>
            <a:r>
              <a:rPr/>
              <a:t>Installing R and RStudio</a:t>
            </a:r>
          </a:p>
          <a:p>
            <a:pPr lvl="0"/>
            <a:r>
              <a:rPr/>
              <a:t>The different parts of RStudio</a:t>
            </a:r>
          </a:p>
          <a:p>
            <a:pPr lvl="0"/>
            <a:r>
              <a:rPr/>
              <a:t>Using R as a calculator</a:t>
            </a:r>
          </a:p>
          <a:p>
            <a:pPr lvl="0"/>
            <a:r>
              <a:rPr/>
              <a:t>R scripts, functions, and objects</a:t>
            </a:r>
          </a:p>
          <a:p>
            <a:pPr lvl="0"/>
            <a:r>
              <a:rPr/>
              <a:t>Reading data into R</a:t>
            </a:r>
          </a:p>
          <a:p>
            <a:pPr lvl="0"/>
            <a:r>
              <a:rPr/>
              <a:t>Understanding and working with data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FSU!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As I’m sure you are aware, you are joining one of the best political science departments in the country.</a:t>
            </a:r>
            <a:r>
              <a:rPr/>
              <a:t> - This is the best department in the state of Florida. - FSU pulls above its weigh in publications in top journals</a:t>
            </a:r>
          </a:p>
          <a:p>
            <a:pPr lvl="0" indent="0" marL="0">
              <a:buNone/>
            </a:pPr>
            <a:r>
              <a:rPr/>
              <a:t>Images Here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Graduate School Is—and Is Not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not undergrad 2.0–it is less structred, you have more freedom.</a:t>
            </a:r>
          </a:p>
          <a:p>
            <a:pPr lvl="0"/>
            <a:r>
              <a:rPr/>
              <a:t>This is a lot of work.</a:t>
            </a:r>
          </a:p>
          <a:p>
            <a:pPr lvl="1"/>
            <a:r>
              <a:rPr/>
              <a:t>Expect to read about 300 pages a week, at least 1 problem set, and occasional papers as well.</a:t>
            </a:r>
          </a:p>
          <a:p>
            <a:pPr lvl="0"/>
            <a:r>
              <a:rPr/>
              <a:t>It is very rewarding, and you will learn A LOT.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Be Successful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1) Go to class</a:t>
            </a:r>
          </a:p>
          <a:p>
            <a:pPr lvl="0"/>
            <a:r>
              <a:rPr/>
              <a:t>Participate when you do go to class.</a:t>
            </a:r>
          </a:p>
          <a:p>
            <a:pPr lvl="0"/>
            <a:r>
              <a:rPr/>
              <a:t>Do the readings!</a:t>
            </a:r>
          </a:p>
          <a:p>
            <a:pPr lvl="1"/>
            <a:r>
              <a:rPr/>
              <a:t>Come to class with thoughts and comments about the readings.</a:t>
            </a:r>
          </a:p>
          <a:p>
            <a:pPr lvl="0"/>
            <a:r>
              <a:rPr/>
              <a:t>Besides methods classes, the 2.5 hours of class are controlled by the students talking. It can get really awkward if no one has read.</a:t>
            </a:r>
          </a:p>
          <a:p>
            <a:pPr lvl="0" indent="0" marL="0">
              <a:buNone/>
            </a:pPr>
            <a:r>
              <a:rPr b="1"/>
              <a:t>2) Go to department functions.</a:t>
            </a:r>
          </a:p>
          <a:p>
            <a:pPr lvl="0"/>
            <a:r>
              <a:rPr/>
              <a:t>About three hours of your contract are allotted to professionalization events.</a:t>
            </a:r>
          </a:p>
          <a:p>
            <a:pPr lvl="0"/>
            <a:r>
              <a:rPr/>
              <a:t>The colloquiums, job talks, and guest speakers are part of your paycheck.</a:t>
            </a:r>
          </a:p>
          <a:p>
            <a:pPr lvl="0" indent="0" marL="0">
              <a:buNone/>
            </a:pPr>
            <a:r>
              <a:rPr b="1"/>
              <a:t>3) Fulfill your GA and RA responsibilities.</a:t>
            </a:r>
          </a:p>
          <a:p>
            <a:pPr lvl="0"/>
            <a:r>
              <a:rPr/>
              <a:t>Faculty differ in what they ask, but they are usually good about respecting the allotted time.</a:t>
            </a:r>
          </a:p>
          <a:p>
            <a:pPr lvl="0"/>
            <a:r>
              <a:rPr/>
              <a:t>If there is a problem, talk to Carlisle.</a:t>
            </a:r>
          </a:p>
          <a:p>
            <a:pPr lvl="0"/>
            <a:r>
              <a:rPr/>
              <a:t>I have never heard of anyone being over worked or taken advantage of in these roles.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Most Important Way to Be Successful: DO NOT RELY ON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It can be very easy and inciting to get AI to summaries the readings for you, write the code for your problem sets, or do your work for you.</a:t>
            </a:r>
          </a:p>
          <a:p>
            <a:pPr lvl="0"/>
            <a:r>
              <a:rPr/>
              <a:t>It is extremely hard to be successful at FSU if you rely heavily on AI.</a:t>
            </a:r>
          </a:p>
          <a:p>
            <a:pPr lvl="0"/>
            <a:r>
              <a:rPr/>
              <a:t>A significant part of this program requires students to orally defend their theory, methods, and arguments. Relying on AI will make this very difficult.</a:t>
            </a:r>
          </a:p>
          <a:p>
            <a:pPr lvl="0"/>
            <a:r>
              <a:rPr/>
              <a:t>Relying on AI summaries of the text or AI generated code will leave you confused and left behind as the courses move quickly through material.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Use AI Appropriately for Coding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Make sure that you learn how to do the coding yourself first and then you can use AI to help you problem solve.</a:t>
            </a:r>
          </a:p>
          <a:p>
            <a:pPr lvl="0"/>
            <a:r>
              <a:rPr/>
              <a:t>AI coding is still far from perfect.</a:t>
            </a:r>
          </a:p>
          <a:p>
            <a:pPr lvl="0"/>
            <a:r>
              <a:rPr/>
              <a:t>You must be able to check the work the AI model did for you to ensure that your code is correct.</a:t>
            </a:r>
          </a:p>
          <a:p>
            <a:pPr lvl="0"/>
            <a:r>
              <a:rPr/>
              <a:t>Best approach</a:t>
            </a:r>
          </a:p>
          <a:p>
            <a:pPr lvl="1" indent="-342900" marL="685800">
              <a:buAutoNum type="arabicPeriod"/>
            </a:pPr>
            <a:r>
              <a:rPr/>
              <a:t>Work through a problem on your own as best as you can.</a:t>
            </a:r>
          </a:p>
          <a:p>
            <a:pPr lvl="1" indent="-342900" marL="685800">
              <a:buAutoNum type="arabicPeriod"/>
            </a:pPr>
            <a:r>
              <a:rPr/>
              <a:t>If your code is returning errors, copy and paste the error into an AI model to help you problem solve.</a:t>
            </a:r>
          </a:p>
          <a:p>
            <a:pPr lvl="1" indent="-342900" marL="685800">
              <a:buAutoNum type="arabicPeriod"/>
            </a:pPr>
            <a:r>
              <a:rPr/>
              <a:t>If the AI generates code for you, pepper it with questions to ensure you fully understand what each line of code is doing.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Managing Graduate School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Impostor syndrome is real. Do your best not to let it get to you.</a:t>
            </a:r>
          </a:p>
          <a:p>
            <a:pPr lvl="0"/>
            <a:r>
              <a:rPr/>
              <a:t>FSU has therapy resources–while not all students need this, it is a great resource.</a:t>
            </a:r>
          </a:p>
          <a:p>
            <a:pPr lvl="0"/>
            <a:r>
              <a:rPr/>
              <a:t>Work together with your cohort.</a:t>
            </a:r>
          </a:p>
          <a:p>
            <a:pPr lvl="1"/>
            <a:r>
              <a:rPr/>
              <a:t>Cohorts that work together stay together.</a:t>
            </a:r>
          </a:p>
          <a:p>
            <a:pPr lvl="1"/>
            <a:r>
              <a:rPr/>
              <a:t>Collaboration is welcomed in most methods classes—just turn in your own work.</a:t>
            </a:r>
          </a:p>
          <a:p>
            <a:pPr lvl="0"/>
            <a:r>
              <a:rPr/>
              <a:t>Keep a schedule and learn when you work best.</a:t>
            </a:r>
          </a:p>
          <a:p>
            <a:pPr lvl="0"/>
            <a:r>
              <a:rPr b="1"/>
              <a:t>Do things other than graduate school.</a:t>
            </a:r>
          </a:p>
          <a:p>
            <a:pPr lvl="1"/>
            <a:r>
              <a:rPr/>
              <a:t>Tallahassee and FSU have plenty to explore- Wakulla Springs, 30A beaches, St. George Island, etc.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for Some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section introduces R, RStudio, objects, vectors, data frames, and basic data cleaning.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Website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Image placeholder:</a:t>
            </a:r>
            <a:r>
              <a:rPr/>
              <a:t> course website QR code (‘images/fsu-r-workshop-qr-code.png’)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Installing RStudio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this slide to add installation links or walk through the installation process live.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Changing the RStudio Theme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four slides correspond to the theme-change screenshots from the original presentation.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RStudio Theme: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Image placeholder:</a:t>
            </a:r>
            <a:r>
              <a:rPr/>
              <a:t> </a:t>
            </a:r>
            <a:r>
              <a:rPr>
                <a:latin typeface="Courier"/>
              </a:rPr>
              <a:t>www/screenshot1.png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RStudio Theme: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Image placeholder:</a:t>
            </a:r>
            <a:r>
              <a:rPr/>
              <a:t> </a:t>
            </a:r>
            <a:r>
              <a:rPr>
                <a:latin typeface="Courier"/>
              </a:rPr>
              <a:t>www/screenshot2.png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RStudio Theme: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Image placeholder:</a:t>
            </a:r>
            <a:r>
              <a:rPr/>
              <a:t> </a:t>
            </a:r>
            <a:r>
              <a:rPr>
                <a:latin typeface="Courier"/>
              </a:rPr>
              <a:t>www/screenshot3.png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RStudio Theme: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Image placeholder:</a:t>
            </a:r>
            <a:r>
              <a:rPr/>
              <a:t> </a:t>
            </a:r>
            <a:r>
              <a:rPr>
                <a:latin typeface="Courier"/>
              </a:rPr>
              <a:t>www/screenshot4.png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Different Parts of RStudio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next four slides identify the main RStudio panes and controls.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RStudio Interface: Step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Image placeholder:</a:t>
            </a:r>
            <a:r>
              <a:rPr/>
              <a:t> </a:t>
            </a:r>
            <a:r>
              <a:rPr>
                <a:latin typeface="Courier"/>
              </a:rPr>
              <a:t>www/screenshot5.png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RStudio Interface: Step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Image placeholder:</a:t>
            </a:r>
            <a:r>
              <a:rPr/>
              <a:t> </a:t>
            </a:r>
            <a:r>
              <a:rPr>
                <a:latin typeface="Courier"/>
              </a:rPr>
              <a:t>www/screenshot6.png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RStudio Interface: Step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Image placeholder:</a:t>
            </a:r>
            <a:r>
              <a:rPr/>
              <a:t> </a:t>
            </a:r>
            <a:r>
              <a:rPr>
                <a:latin typeface="Courier"/>
              </a:rPr>
              <a:t>www/screenshot7.png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RStudio Interface: Step 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Image placeholder:</a:t>
            </a:r>
            <a:r>
              <a:rPr/>
              <a:t> </a:t>
            </a:r>
            <a:r>
              <a:rPr>
                <a:latin typeface="Courier"/>
              </a:rPr>
              <a:t>www/screenshot8.png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Using R as a Calculator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  <a:p>
            <a:pPr lvl="0" indent="0">
              <a:buNone/>
            </a:pP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</a:p>
          <a:p>
            <a:pPr lvl="0" indent="0">
              <a:buNone/>
            </a:pPr>
            <a:r>
              <a:rPr>
                <a:latin typeface="Courier"/>
              </a:rPr>
              <a:t>[1] 4</a:t>
            </a:r>
          </a:p>
          <a:p>
            <a:pPr lvl="0" indent="0">
              <a:buNone/>
            </a:pPr>
            <a:r>
              <a:rPr>
                <a:solidFill>
                  <a:srgbClr val="40A070"/>
                </a:solidFill>
                <a:latin typeface="Courier"/>
              </a:rPr>
              <a:t>100000000000000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21000000000000</a:t>
            </a:r>
          </a:p>
          <a:p>
            <a:pPr lvl="0" indent="0">
              <a:buNone/>
            </a:pPr>
            <a:r>
              <a:rPr>
                <a:latin typeface="Courier"/>
              </a:rPr>
              <a:t>[1] 2.1e+27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sqrt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Practice with R as a Calculator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Take a moment and perform the following calculations: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9</m:t>
                    </m:r>
                    <m:r>
                      <m:rPr>
                        <m:sty m:val="p"/>
                      </m:rPr>
                      <m:t>+</m:t>
                    </m:r>
                    <m:r>
                      <m:t>10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9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10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9</m:t>
                    </m:r>
                    <m:r>
                      <m:rPr>
                        <m:sty m:val="p"/>
                      </m:rPr>
                      <m:t>/</m:t>
                    </m:r>
                    <m:r>
                      <m:t>10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9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14:m>
                  <m:oMath xmlns:m="http://schemas.openxmlformats.org/officeDocument/2006/math">
                    <m:rad>
                      <m:radPr>
                        <m:degHide m:val="on"/>
                      </m:radPr>
                      <m:deg/>
                      <m:e>
                        <m:r>
                          <m:t>32</m:t>
                        </m:r>
                      </m:e>
                    </m:rad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log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9</m:t>
                        </m:r>
                      </m:e>
                    </m:d>
                  </m:oMath>
                </a14:m>
              </a:p>
              <a:p>
                <a:pPr lvl="0" indent="0" marL="0">
                  <a:buNone/>
                </a:pPr>
                <a:r>
                  <a:rPr/>
                  <a:t>R defaults to the natural logarithm,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ln</m:t>
                    </m:r>
                  </m:oMath>
                </a14:m>
                <a:r>
                  <a:rPr/>
                  <a:t> or </a:t>
                </a:r>
                <a14:m>
                  <m:oMath xmlns:m="http://schemas.openxmlformats.org/officeDocument/2006/math">
                    <m:sSub>
                      <m:e>
                        <m:r>
                          <m:rPr>
                            <m:sty m:val="p"/>
                          </m:rPr>
                          <m:t>log</m:t>
                        </m:r>
                      </m:e>
                      <m:sub>
                        <m:r>
                          <m:t>e</m:t>
                        </m:r>
                      </m:sub>
                    </m:sSub>
                  </m:oMath>
                </a14:m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Objects and Scalars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b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r>
              <a:rPr>
                <a:latin typeface="Courier"/>
              </a:rPr>
              <a:t>b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4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Use # to leave comments in your code.</a:t>
            </a:r>
            <a:br/>
            <a:r>
              <a:rPr i="1">
                <a:solidFill>
                  <a:srgbClr val="BA2121"/>
                </a:solidFill>
                <a:latin typeface="Courier"/>
              </a:rPr>
              <a:t>## Assign 2 to the letter b.</a:t>
            </a:r>
            <a:br/>
            <a:r>
              <a:rPr>
                <a:latin typeface="Courier"/>
              </a:rPr>
              <a:t>b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br/>
            <a:br/>
            <a:r>
              <a:rPr i="1">
                <a:solidFill>
                  <a:srgbClr val="BA2121"/>
                </a:solidFill>
                <a:latin typeface="Courier"/>
              </a:rPr>
              <a:t>## Add b and 2.</a:t>
            </a:r>
            <a:br/>
            <a:r>
              <a:rPr>
                <a:latin typeface="Courier"/>
              </a:rPr>
              <a:t>b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2 + 2</a:t>
            </a:r>
            <a:r>
              <a:rPr/>
              <a:t> would be easier here; this example demonstrates how objects work.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Take the square root of 400.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sqrt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</a:t>
            </a:r>
          </a:p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Assign the result to an object.</a:t>
            </a:r>
            <a:br/>
            <a:r>
              <a:rPr>
                <a:latin typeface="Courier"/>
              </a:rPr>
              <a:t>sq400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sqrt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400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sq400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sqrt</a:t>
            </a:r>
            <a:r>
              <a:rPr>
                <a:latin typeface="Courier"/>
              </a:rPr>
              <a:t>(sq400)</a:t>
            </a:r>
          </a:p>
          <a:p>
            <a:pPr lvl="0" indent="0">
              <a:buNone/>
            </a:pPr>
            <a:r>
              <a:rPr>
                <a:latin typeface="Courier"/>
              </a:rPr>
              <a:t>[1] 20
[1] 4.472136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Words are represented as character strings.</a:t>
            </a:r>
            <a:br/>
            <a:r>
              <a:rPr>
                <a:solidFill>
                  <a:srgbClr val="4070A0"/>
                </a:solidFill>
                <a:latin typeface="Courier"/>
              </a:rPr>
              <a:t>"Hello World"</a:t>
            </a:r>
          </a:p>
          <a:p>
            <a:pPr lvl="0" indent="0">
              <a:buNone/>
            </a:pPr>
            <a:r>
              <a:rPr>
                <a:latin typeface="Courier"/>
              </a:rPr>
              <a:t>[1] "Hello World"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Strings Cannot Be Used as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070A0"/>
                </a:solidFill>
                <a:latin typeface="Courier"/>
              </a:rPr>
              <a:t>"Hello World"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"Hello World" + 2: non-numeric argument to binary operator</a:t>
            </a:r>
          </a:p>
          <a:p>
            <a:pPr lvl="0" indent="0" marL="0">
              <a:buNone/>
            </a:pPr>
            <a:r>
              <a:rPr/>
              <a:t>The same is true when the string contains a number.</a:t>
            </a:r>
          </a:p>
          <a:p>
            <a:pPr lvl="0" indent="0">
              <a:buNone/>
            </a:pPr>
            <a:r>
              <a:rPr>
                <a:solidFill>
                  <a:srgbClr val="4070A0"/>
                </a:solidFill>
                <a:latin typeface="Courier"/>
              </a:rPr>
              <a:t>"3"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"3" + 2: non-numeric argument to binary operator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Converting Strings to Numbers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as.numeric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"3"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(tidyverse)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parse_number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"3"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5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parse_number()</a:t>
            </a:r>
            <a:r>
              <a:rPr/>
              <a:t> Extracts a Number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parse_number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"himothy316"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318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as.numeric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"himothy316"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+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NA</a:t>
            </a:r>
          </a:p>
          <a:p>
            <a:pPr lvl="0" indent="0" marL="0">
              <a:buNone/>
            </a:pPr>
            <a:r>
              <a:rPr/>
              <a:t>This difference is useful when numbers are embedded in data labels.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parse_number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"ideo2"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2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Working with only one number is not realistic.</a:t>
            </a:r>
          </a:p>
          <a:p>
            <a:pPr lvl="0"/>
            <a:r>
              <a:rPr/>
              <a:t>Instead, we work with collections of values called </a:t>
            </a:r>
            <a:r>
              <a:rPr b="1"/>
              <a:t>vectors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Common types include:</a:t>
            </a:r>
          </a:p>
          <a:p>
            <a:pPr lvl="0"/>
            <a:r>
              <a:rPr b="1"/>
              <a:t>Numeric:</a:t>
            </a:r>
            <a:r>
              <a:rPr/>
              <a:t> </a:t>
            </a:r>
            <a:r>
              <a:rPr>
                <a:latin typeface="Courier"/>
              </a:rPr>
              <a:t>1.1</a:t>
            </a:r>
            <a:r>
              <a:rPr/>
              <a:t>, </a:t>
            </a:r>
            <a:r>
              <a:rPr>
                <a:latin typeface="Courier"/>
              </a:rPr>
              <a:t>2</a:t>
            </a:r>
            <a:r>
              <a:rPr/>
              <a:t>, and </a:t>
            </a:r>
            <a:r>
              <a:rPr>
                <a:latin typeface="Courier"/>
              </a:rPr>
              <a:t>100</a:t>
            </a:r>
          </a:p>
          <a:p>
            <a:pPr lvl="0"/>
            <a:r>
              <a:rPr b="1"/>
              <a:t>Character:</a:t>
            </a:r>
            <a:r>
              <a:rPr/>
              <a:t> </a:t>
            </a:r>
            <a:r>
              <a:rPr>
                <a:latin typeface="Courier"/>
              </a:rPr>
              <a:t>"Republican"</a:t>
            </a:r>
            <a:r>
              <a:rPr/>
              <a:t>, </a:t>
            </a:r>
            <a:r>
              <a:rPr>
                <a:latin typeface="Courier"/>
              </a:rPr>
              <a:t>"Democratic"</a:t>
            </a:r>
            <a:r>
              <a:rPr/>
              <a:t>, and </a:t>
            </a:r>
            <a:r>
              <a:rPr>
                <a:latin typeface="Courier"/>
              </a:rPr>
              <a:t>"Independent"</a:t>
            </a:r>
          </a:p>
          <a:p>
            <a:pPr lvl="0"/>
            <a:r>
              <a:rPr b="1"/>
              <a:t>Factor:</a:t>
            </a:r>
            <a:r>
              <a:rPr/>
              <a:t> ordered categories</a:t>
            </a:r>
          </a:p>
          <a:p>
            <a:pPr lvl="0"/>
            <a:r>
              <a:rPr b="1"/>
              <a:t>Logical:</a:t>
            </a:r>
            <a:r>
              <a:rPr/>
              <a:t> </a:t>
            </a:r>
            <a:r>
              <a:rPr>
                <a:latin typeface="Courier"/>
              </a:rPr>
              <a:t>TRUE</a:t>
            </a:r>
            <a:r>
              <a:rPr/>
              <a:t> or </a:t>
            </a:r>
            <a:r>
              <a:rPr>
                <a:latin typeface="Courier"/>
              </a:rPr>
              <a:t>FALSE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Numeric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a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100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</a:t>
            </a:r>
          </a:p>
          <a:p>
            <a:pPr lvl="0" indent="0">
              <a:buNone/>
            </a:pPr>
            <a:r>
              <a:rPr>
                <a:latin typeface="Courier"/>
              </a:rPr>
              <a:t>[1]   5  10  15 100</a:t>
            </a:r>
          </a:p>
          <a:p>
            <a:pPr lvl="0" indent="0">
              <a:buNone/>
            </a:pPr>
            <a:r>
              <a:rPr>
                <a:latin typeface="Courier"/>
              </a:rPr>
              <a:t>a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br/>
            <a:r>
              <a:rPr>
                <a:solidFill>
                  <a:srgbClr val="06287E"/>
                </a:solidFill>
                <a:latin typeface="Courier"/>
              </a:rPr>
              <a:t>mean</a:t>
            </a:r>
            <a:r>
              <a:rPr>
                <a:latin typeface="Courier"/>
              </a:rPr>
              <a:t>(a) </a:t>
            </a:r>
            <a:r>
              <a:rPr i="1">
                <a:solidFill>
                  <a:srgbClr val="60A0B0"/>
                </a:solidFill>
                <a:latin typeface="Courier"/>
              </a:rPr>
              <a:t># Congratulations: you're doing statistics.</a:t>
            </a:r>
          </a:p>
          <a:p>
            <a:pPr lvl="0" indent="0">
              <a:buNone/>
            </a:pPr>
            <a:r>
              <a:rPr>
                <a:latin typeface="Courier"/>
              </a:rPr>
              <a:t>[1]  1  2  3 20
[1] 32.5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Character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"Republican"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"Democrat"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"Republican"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"Independent"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p</a:t>
            </a:r>
          </a:p>
          <a:p>
            <a:pPr lvl="0" indent="0">
              <a:buNone/>
            </a:pPr>
            <a:r>
              <a:rPr>
                <a:latin typeface="Courier"/>
              </a:rPr>
              <a:t>[1] "Republican" "Democrat" "Republican" "Independent"</a:t>
            </a:r>
          </a:p>
          <a:p>
            <a:pPr lvl="0" indent="0" marL="0">
              <a:buNone/>
            </a:pPr>
            <a:r>
              <a:rPr/>
              <a:t>Numeric functions do not work on character vectors.</a:t>
            </a:r>
          </a:p>
          <a:p>
            <a:pPr lvl="0" indent="0">
              <a:buNone/>
            </a:pPr>
            <a:r>
              <a:rPr>
                <a:latin typeface="Courier"/>
              </a:rPr>
              <a:t>p </a:t>
            </a:r>
            <a:r>
              <a:rPr>
                <a:solidFill>
                  <a:srgbClr val="4070A0"/>
                </a:solidFill>
                <a:latin typeface="Courier"/>
              </a:rPr>
              <a:t>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p * 3: non-numeric argument to binary operator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Escape Sequences in Strings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\n</a:t>
            </a:r>
            <a:r>
              <a:rPr/>
              <a:t> starts a new line.</a:t>
            </a:r>
          </a:p>
          <a:p>
            <a:pPr lvl="0"/>
            <a:r>
              <a:rPr>
                <a:latin typeface="Courier"/>
              </a:rPr>
              <a:t>\t</a:t>
            </a:r>
            <a:r>
              <a:rPr/>
              <a:t> inserts a tab.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cat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"Repu\nblican"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cat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"Demo\tcrat"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Repu
blican
Demo    crat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Factor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p1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"Republican"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"Republican"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"Democrat"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"Other"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(p1)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table</a:t>
            </a:r>
            <a:r>
              <a:rPr>
                <a:latin typeface="Courier"/>
              </a:rPr>
              <a:t>(p1)</a:t>
            </a:r>
          </a:p>
          <a:p>
            <a:pPr lvl="0" indent="0">
              <a:buNone/>
            </a:pPr>
            <a:r>
              <a:rPr>
                <a:latin typeface="Courier"/>
              </a:rPr>
              <a:t>[1] "character"
p1
  Democrat      Other Republican
         1          1          2</a:t>
            </a:r>
          </a:p>
          <a:p>
            <a:pPr lvl="0" indent="0" marL="0">
              <a:buNone/>
            </a:pPr>
            <a:r>
              <a:rPr/>
              <a:t>Problem: the ordering is odd, and Independents are missing.</a:t>
            </a:r>
          </a:p>
          <a:p>
            <a:pPr lvl="0" indent="0">
              <a:buNone/>
            </a:pPr>
            <a:r>
              <a:rPr>
                <a:latin typeface="Courier"/>
              </a:rPr>
              <a:t>pid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factor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p1,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levels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"Republican"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"Independent"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"Democrat"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"Other"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Checking the Factor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class</a:t>
            </a:r>
            <a:r>
              <a:rPr>
                <a:latin typeface="Courier"/>
              </a:rPr>
              <a:t>(pid)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table</a:t>
            </a:r>
            <a:r>
              <a:rPr>
                <a:latin typeface="Courier"/>
              </a:rPr>
              <a:t>(pid)</a:t>
            </a:r>
          </a:p>
          <a:p>
            <a:pPr lvl="0" indent="0">
              <a:buNone/>
            </a:pPr>
            <a:r>
              <a:rPr>
                <a:latin typeface="Courier"/>
              </a:rPr>
              <a:t>[1] "factor"
pid
 Republican Independent    Democrat       Other
          2           0           1           1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Practice with Vectors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Include comments throughout your code.</a:t>
            </a:r>
          </a:p>
          <a:p>
            <a:pPr lvl="0" indent="0" marL="0">
              <a:buNone/>
            </a:pPr>
            <a:r>
              <a:rPr b="1"/>
              <a:t>Numeric</a:t>
            </a:r>
          </a:p>
          <a:p>
            <a:pPr lvl="0"/>
            <a:r>
              <a:rPr/>
              <a:t>Create </a:t>
            </a:r>
            <a:r>
              <a:rPr>
                <a:latin typeface="Courier"/>
              </a:rPr>
              <a:t>my_vector</a:t>
            </a:r>
            <a:r>
              <a:rPr/>
              <a:t> with 2, 6, 4, 3, 5, and 17.</a:t>
            </a:r>
          </a:p>
          <a:p>
            <a:pPr lvl="0"/>
            <a:r>
              <a:rPr/>
              <a:t>Find the sum with </a:t>
            </a:r>
            <a:r>
              <a:rPr>
                <a:latin typeface="Courier"/>
              </a:rPr>
              <a:t>sum()</a:t>
            </a:r>
            <a:r>
              <a:rPr/>
              <a:t>.</a:t>
            </a:r>
          </a:p>
          <a:p>
            <a:pPr lvl="0"/>
            <a:r>
              <a:rPr/>
              <a:t>Find each square root with </a:t>
            </a:r>
            <a:r>
              <a:rPr>
                <a:latin typeface="Courier"/>
              </a:rPr>
              <a:t>sqrt()</a:t>
            </a:r>
            <a:r>
              <a:rPr/>
              <a:t>.</a:t>
            </a:r>
          </a:p>
          <a:p>
            <a:pPr lvl="0" indent="0" marL="0">
              <a:buNone/>
            </a:pPr>
            <a:r>
              <a:rPr b="1"/>
              <a:t>Character and factor</a:t>
            </a:r>
          </a:p>
          <a:p>
            <a:pPr lvl="0"/>
            <a:r>
              <a:rPr/>
              <a:t>Create </a:t>
            </a:r>
            <a:r>
              <a:rPr>
                <a:latin typeface="Courier"/>
              </a:rPr>
              <a:t>sex</a:t>
            </a:r>
            <a:r>
              <a:rPr/>
              <a:t>: Male, Female, Male, Male, Female.</a:t>
            </a:r>
          </a:p>
          <a:p>
            <a:pPr lvl="0"/>
            <a:r>
              <a:rPr/>
              <a:t>Create </a:t>
            </a:r>
            <a:r>
              <a:rPr>
                <a:latin typeface="Courier"/>
              </a:rPr>
              <a:t>ideology</a:t>
            </a:r>
            <a:r>
              <a:rPr/>
              <a:t>: Liberal, Moderate, Moderate, Conservative, Liberal.</a:t>
            </a:r>
          </a:p>
          <a:p>
            <a:pPr lvl="0"/>
            <a:r>
              <a:rPr/>
              <a:t>Add meaningfully ordered factor levels to both variables.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Missing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Missing values are denoted by </a:t>
            </a:r>
            <a:r>
              <a:rPr>
                <a:latin typeface="Courier"/>
              </a:rPr>
              <a:t>NA</a:t>
            </a:r>
            <a:r>
              <a:rPr/>
              <a:t>.</a:t>
            </a:r>
          </a:p>
          <a:p>
            <a:pPr lvl="0"/>
            <a:r>
              <a:rPr/>
              <a:t>Some functions preserve them.</a:t>
            </a:r>
          </a:p>
          <a:p>
            <a:pPr lvl="0" indent="0">
              <a:buNone/>
            </a:pPr>
            <a:r>
              <a:rPr>
                <a:latin typeface="Courier"/>
              </a:rPr>
              <a:t>x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7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880000"/>
                </a:solidFill>
                <a:latin typeface="Courier"/>
              </a:rPr>
              <a:t>NA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log</a:t>
            </a:r>
            <a:r>
              <a:rPr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0.0000000 1.3862944 1.9459101 NA 0.6931472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(x)</a:t>
            </a:r>
            <a:br/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(x, </a:t>
            </a:r>
            <a:r>
              <a:rPr>
                <a:solidFill>
                  <a:srgbClr val="7D9029"/>
                </a:solidFill>
                <a:latin typeface="Courier"/>
              </a:rPr>
              <a:t>na.rm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880000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NA
[1] 14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Logical Operators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Logical operators test whether conditions hold.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2700"/>
                <a:gridCol w="25527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Operator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Syntax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Less than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Less than or equal to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Exactly equal to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Greater than or equal to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Greater than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Not equal to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>
                          <a:latin typeface="Courier"/>
                        </a:rPr>
                        <a:t>\|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>
                          <a:latin typeface="Courier"/>
                        </a:rPr>
                        <a:t>&amp;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Frames and Tibbles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Most data will be organized as </a:t>
            </a:r>
            <a:r>
              <a:rPr b="1"/>
              <a:t>data frames</a:t>
            </a:r>
            <a:r>
              <a:rPr/>
              <a:t> or </a:t>
            </a:r>
            <a:r>
              <a:rPr b="1"/>
              <a:t>tibbles</a:t>
            </a:r>
            <a:r>
              <a:rPr/>
              <a:t>.</a:t>
            </a:r>
          </a:p>
          <a:p>
            <a:pPr lvl="0"/>
            <a:r>
              <a:rPr/>
              <a:t>Think of a data frame or tibble as a collection of vectors.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data.frame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name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"John"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"Jacob"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"Jingleheimer Schmidt"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ideo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7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sex 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"Male"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"Male"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"Male"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) </a:t>
            </a:r>
            <a:r>
              <a:rPr>
                <a:solidFill>
                  <a:srgbClr val="007020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his_name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Creating a Tibble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Install the tidyverse once from the console: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install.packages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"tidyverse"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(tidyverse)</a:t>
            </a:r>
            <a:br/>
            <a:br/>
            <a:r>
              <a:rPr>
                <a:solidFill>
                  <a:srgbClr val="06287E"/>
                </a:solidFill>
                <a:latin typeface="Courier"/>
              </a:rPr>
              <a:t>tibble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name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"John"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"Jacob"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"Jingleheimer Schmidt"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ideo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7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sex 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"Male"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"Male"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"Male"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) </a:t>
            </a:r>
            <a:r>
              <a:rPr>
                <a:solidFill>
                  <a:srgbClr val="007020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his_name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Calling a Column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$</a:t>
            </a:r>
            <a:r>
              <a:rPr/>
              <a:t> operator extracts one column as a vector.</a:t>
            </a:r>
          </a:p>
          <a:p>
            <a:pPr lvl="0" indent="0">
              <a:buNone/>
            </a:pPr>
            <a:r>
              <a:rPr>
                <a:latin typeface="Courier"/>
              </a:rPr>
              <a:t>his_name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name</a:t>
            </a:r>
            <a:br/>
            <a:r>
              <a:rPr>
                <a:latin typeface="Courier"/>
              </a:rPr>
              <a:t>his_name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ideo </a:t>
            </a:r>
            <a:r>
              <a:rPr>
                <a:solidFill>
                  <a:srgbClr val="4070A0"/>
                </a:solidFill>
                <a:latin typeface="Courier"/>
              </a:rPr>
              <a:t>/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</a:p>
          <a:p>
            <a:pPr lvl="0" indent="0">
              <a:buNone/>
            </a:pPr>
            <a:r>
              <a:rPr>
                <a:latin typeface="Courier"/>
              </a:rPr>
              <a:t>[1] "John" "Jacob" "Jingleheimer Schmidt"
[1] 0.5 2.0 3.5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Combining Vectors into a Tibble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name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"John"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"Jacob"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"Jingleheimer Schmidt"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ideo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7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sex 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"Male"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"Male"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"Male"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solidFill>
                  <a:srgbClr val="06287E"/>
                </a:solidFill>
                <a:latin typeface="Courier"/>
              </a:rPr>
              <a:t>tibble</a:t>
            </a:r>
            <a:r>
              <a:rPr>
                <a:latin typeface="Courier"/>
              </a:rPr>
              <a:t>(name, ideo, sex)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3
  name                  ideo sex
  &lt;chr&gt;                &lt;dbl&gt; &lt;chr&gt;
1 John                     1 Male
2 Jacob                    4 Male
3 Jingleheimer Schmidt     7 Male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Making Data Usable with </a:t>
            </a:r>
            <a:r>
              <a:rPr>
                <a:latin typeface="Courier"/>
              </a:rPr>
              <a:t>mutate()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his_name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ideo_cat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"Very Conservative"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"Moderate"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"Very Liberal"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name                  ideo sex   ideo_cat
1 John                     1 Male  Very Conservative
2 Jacob                    4 Male  Moderate
3 Jingleheimer Schmidt     7 Male  Very Liberal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%&gt;%</a:t>
            </a:r>
            <a:r>
              <a:rPr/>
              <a:t> operator is a </a:t>
            </a:r>
            <a:r>
              <a:rPr b="1"/>
              <a:t>pipe</a:t>
            </a:r>
            <a:r>
              <a:rPr/>
              <a:t>. Insert it with Ctrl—or Command—Shift-M.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Base R Equivalent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his_name</a:t>
            </a:r>
            <a:r>
              <a:rPr>
                <a:solidFill>
                  <a:srgbClr val="4070A0"/>
                </a:solidFill>
                <a:latin typeface="Courier"/>
              </a:rPr>
              <a:t>$</a:t>
            </a:r>
            <a:r>
              <a:rPr>
                <a:latin typeface="Courier"/>
              </a:rPr>
              <a:t>ideo_cat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4070A0"/>
                </a:solidFill>
                <a:latin typeface="Courier"/>
              </a:rPr>
              <a:t>"Very Conservative"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4070A0"/>
                </a:solidFill>
                <a:latin typeface="Courier"/>
              </a:rPr>
              <a:t>"Moderate"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4070A0"/>
                </a:solidFill>
                <a:latin typeface="Courier"/>
              </a:rPr>
              <a:t>"Very Liberal"</a:t>
            </a:r>
            <a:br/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his_name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and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create a variable conditionally.</a:t>
            </a:r>
          </a:p>
          <a:p>
            <a:pPr lvl="0" indent="0">
              <a:buNone/>
            </a:pPr>
            <a:r>
              <a:rPr>
                <a:latin typeface="Courier"/>
              </a:rPr>
              <a:t>his_name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ideo_cat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case_when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  ideo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"Very Conservative"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ideo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"Moderate"</a:t>
            </a:r>
            <a:r>
              <a:rPr>
                <a:latin typeface="Courier"/>
              </a:rPr>
              <a:t>,</a:t>
            </a:r>
            <a:br/>
            <a:r>
              <a:rPr>
                <a:latin typeface="Courier"/>
              </a:rPr>
              <a:t>      ideo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7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~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"Very Liberal"</a:t>
            </a:r>
            <a:br/>
            <a:r>
              <a:rPr>
                <a:latin typeface="Courier"/>
              </a:rPr>
              <a:t>    )</a:t>
            </a:r>
            <a:br/>
            <a:r>
              <a:rPr>
                <a:latin typeface="Courier"/>
              </a:rPr>
              <a:t>  ) </a:t>
            </a:r>
            <a:r>
              <a:rPr>
                <a:solidFill>
                  <a:srgbClr val="007020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his_name_2</a:t>
            </a:r>
            <a:br/>
            <a:br/>
            <a:r>
              <a:rPr>
                <a:latin typeface="Courier"/>
              </a:rPr>
              <a:t>his_name_2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filter()</a:t>
            </a:r>
            <a:r>
              <a:rPr/>
              <a:t> to keep rows matching a condition.</a:t>
            </a:r>
          </a:p>
          <a:p>
            <a:pPr lvl="0" indent="0">
              <a:buNone/>
            </a:pPr>
            <a:r>
              <a:rPr>
                <a:latin typeface="Courier"/>
              </a:rPr>
              <a:t>his_name_2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(ideo_cat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"Very Liberal"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 × 4
  name                  ideo sex   ideo_cat
1 Jingleheimer Schmidt     7 Male  Very Liberal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Removing Rows with </a:t>
            </a:r>
            <a:r>
              <a:rPr>
                <a:latin typeface="Courier"/>
              </a:rPr>
              <a:t>filter()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!=</a:t>
            </a:r>
            <a:r>
              <a:rPr/>
              <a:t> to keep rows that are </a:t>
            </a:r>
            <a:r>
              <a:rPr b="1"/>
              <a:t>not</a:t>
            </a:r>
            <a:r>
              <a:rPr/>
              <a:t> equal to a value.</a:t>
            </a:r>
          </a:p>
          <a:p>
            <a:pPr lvl="0" indent="0">
              <a:buNone/>
            </a:pPr>
            <a:r>
              <a:rPr>
                <a:latin typeface="Courier"/>
              </a:rPr>
              <a:t>his_name_2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(ideo_cat </a:t>
            </a:r>
            <a:r>
              <a:rPr>
                <a:solidFill>
                  <a:srgbClr val="4070A0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"Very Liberal"</a:t>
            </a:r>
            <a:r>
              <a:rPr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2 × 4
  name   ideo sex   ideo_cat
1 John      1 Male  Very Conservative
2 Jacob     4 Male  Moderate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Variable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Research data often arrive with unclear variable names.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tibble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X1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123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124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125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126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X2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7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X3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"abortion"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"health care"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"guns"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"police"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) </a:t>
            </a:r>
            <a:r>
              <a:rPr>
                <a:solidFill>
                  <a:srgbClr val="007020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data</a:t>
            </a:r>
          </a:p>
          <a:p>
            <a:pPr lvl="0" indent="0" marL="0">
              <a:buNone/>
            </a:pPr>
            <a:r>
              <a:rPr/>
              <a:t>What does each variable represent?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Renaming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Ask two questions:</a:t>
            </a:r>
          </a:p>
          <a:p>
            <a:pPr lvl="0"/>
            <a:r>
              <a:rPr/>
              <a:t>Is the name informative?</a:t>
            </a:r>
          </a:p>
          <a:p>
            <a:pPr lvl="0"/>
            <a:r>
              <a:rPr/>
              <a:t>Is the name easy to work with?</a:t>
            </a:r>
          </a:p>
          <a:p>
            <a:pPr lvl="0" indent="0">
              <a:buNone/>
            </a:pPr>
            <a:r>
              <a:rPr>
                <a:latin typeface="Courier"/>
              </a:rPr>
              <a:t>data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rename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id    =</a:t>
            </a:r>
            <a:r>
              <a:rPr>
                <a:latin typeface="Courier"/>
              </a:rPr>
              <a:t> X1,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ideo  =</a:t>
            </a:r>
            <a:r>
              <a:rPr>
                <a:latin typeface="Courier"/>
              </a:rPr>
              <a:t> X2,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issue =</a:t>
            </a:r>
            <a:r>
              <a:rPr>
                <a:latin typeface="Courier"/>
              </a:rPr>
              <a:t> X3</a:t>
            </a:r>
            <a:br/>
            <a:r>
              <a:rPr>
                <a:latin typeface="Courier"/>
              </a:rPr>
              <a:t>  )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Informative Names Can Still Be Awkward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tibble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4070A0"/>
                </a:solidFill>
                <a:latin typeface="Courier"/>
              </a:rPr>
              <a:t>"ID Number"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123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124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125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126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4070A0"/>
                </a:solidFill>
                <a:latin typeface="Courier"/>
              </a:rPr>
              <a:t>"Ideology Numeric"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7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4070A0"/>
                </a:solidFill>
                <a:latin typeface="Courier"/>
              </a:rPr>
              <a:t>"Most Important Issue"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7020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4070A0"/>
                </a:solidFill>
                <a:latin typeface="Courier"/>
              </a:rPr>
              <a:t>"abortion"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"health care"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"guns"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"police"</a:t>
            </a:r>
            <a:br/>
            <a:r>
              <a:rPr>
                <a:latin typeface="Courier"/>
              </a:rPr>
              <a:t>  )</a:t>
            </a:r>
            <a:br/>
            <a:r>
              <a:rPr>
                <a:latin typeface="Courier"/>
              </a:rPr>
              <a:t>) </a:t>
            </a:r>
            <a:r>
              <a:rPr>
                <a:solidFill>
                  <a:srgbClr val="007020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data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clean_names()</a:t>
            </a:r>
            <a:r>
              <a:rPr/>
              <a:t> function from </a:t>
            </a:r>
            <a:r>
              <a:rPr b="1"/>
              <a:t>janitor</a:t>
            </a:r>
            <a:r>
              <a:rPr/>
              <a:t> can fix them.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install.packages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"janitor"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Cleaning Variable Names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::</a:t>
            </a:r>
            <a:r>
              <a:rPr/>
              <a:t> to call one function directly from a package.</a:t>
            </a:r>
          </a:p>
          <a:p>
            <a:pPr lvl="0" indent="0">
              <a:buNone/>
            </a:pPr>
            <a:r>
              <a:rPr>
                <a:latin typeface="Courier"/>
              </a:rPr>
              <a:t>data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janitor</a:t>
            </a:r>
            <a:r>
              <a:rPr>
                <a:solidFill>
                  <a:srgbClr val="4070A0"/>
                </a:solidFill>
                <a:latin typeface="Courier"/>
              </a:rPr>
              <a:t>::</a:t>
            </a:r>
            <a:r>
              <a:rPr>
                <a:solidFill>
                  <a:srgbClr val="06287E"/>
                </a:solidFill>
                <a:latin typeface="Courier"/>
              </a:rPr>
              <a:t>clean_names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007020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data</a:t>
            </a:r>
            <a:br/>
            <a:br/>
            <a:r>
              <a:rPr>
                <a:latin typeface="Courier"/>
              </a:rPr>
              <a:t>data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4 × 3
  id_number ideology_numeric most_important_issue
1       123                1 abortion
2       124                2 health care
3       125                4 guns
4       126                7 police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Selecting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select()</a:t>
            </a:r>
            <a:r>
              <a:rPr/>
              <a:t> with either a variable name or position.</a:t>
            </a:r>
          </a:p>
          <a:p>
            <a:pPr lvl="0" indent="0">
              <a:buNone/>
            </a:pPr>
            <a:r>
              <a:rPr>
                <a:latin typeface="Courier"/>
              </a:rPr>
              <a:t>data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(most_important_issue)</a:t>
            </a:r>
            <a:br/>
            <a:r>
              <a:rPr>
                <a:latin typeface="Courier"/>
              </a:rPr>
              <a:t>data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3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Selecting Rows with </a:t>
            </a:r>
            <a:r>
              <a:rPr>
                <a:latin typeface="Courier"/>
              </a:rPr>
              <a:t>slice()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Suppose the first row contains variable names rather than data.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tibble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country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"country"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"USA"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"China"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"Germany"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wars   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"wars"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pres   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"pres"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par    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"par"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"Congress"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"None"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"Parliament"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) </a:t>
            </a:r>
            <a:r>
              <a:rPr>
                <a:solidFill>
                  <a:srgbClr val="007020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country</a:t>
            </a:r>
            <a:br/>
            <a:br/>
            <a:r>
              <a:rPr>
                <a:latin typeface="Courier"/>
              </a:rPr>
              <a:t>country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Removing Rows and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a minus sign to remove a row with </a:t>
            </a:r>
            <a:r>
              <a:rPr>
                <a:latin typeface="Courier"/>
              </a:rPr>
              <a:t>slice()</a:t>
            </a:r>
            <a:r>
              <a:rPr/>
              <a:t> or a column with </a:t>
            </a:r>
            <a:r>
              <a:rPr>
                <a:latin typeface="Courier"/>
              </a:rPr>
              <a:t>select()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latin typeface="Courier"/>
              </a:rPr>
              <a:t>country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slice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007020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country</a:t>
            </a:r>
            <a:br/>
            <a:br/>
            <a:r>
              <a:rPr>
                <a:latin typeface="Courier"/>
              </a:rPr>
              <a:t>country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latin typeface="Courier"/>
              </a:rPr>
              <a:t>wars)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on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of the last cleaning steps is ensuring variables use the proper types.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country wars  pres  par
  &lt;chr&gt;   &lt;chr&gt; &lt;chr&gt; &lt;chr&gt;
1 USA     2     1     Congress
2 China   4     0     None
3 Germany 5     1     Parliament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wars</a:t>
            </a:r>
            <a:r>
              <a:rPr/>
              <a:t> and </a:t>
            </a:r>
            <a:r>
              <a:rPr>
                <a:latin typeface="Courier"/>
              </a:rPr>
              <a:t>pres</a:t>
            </a:r>
            <a:r>
              <a:rPr/>
              <a:t> are character variables but need to be numeric.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Practice with Data Cleaning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tibble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country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"country"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"USA"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"China"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"Germany"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wars   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"wars"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4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pres   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"pres"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),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7D9029"/>
                </a:solidFill>
                <a:latin typeface="Courier"/>
              </a:rPr>
              <a:t>par    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c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"par"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"Congress"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"None"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"Parliament"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) </a:t>
            </a:r>
            <a:r>
              <a:rPr>
                <a:solidFill>
                  <a:srgbClr val="007020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country</a:t>
            </a:r>
          </a:p>
          <a:p>
            <a:pPr lvl="0" indent="0" marL="0">
              <a:buNone/>
            </a:pPr>
            <a:r>
              <a:rPr/>
              <a:t>Use </a:t>
            </a:r>
            <a:r>
              <a:rPr>
                <a:latin typeface="Courier"/>
              </a:rPr>
              <a:t>slice()</a:t>
            </a:r>
            <a:r>
              <a:rPr/>
              <a:t>, </a:t>
            </a:r>
            <a:r>
              <a:rPr>
                <a:latin typeface="Courier"/>
              </a:rPr>
              <a:t>parse_number()</a:t>
            </a:r>
            <a:r>
              <a:rPr/>
              <a:t>, and </a:t>
            </a:r>
            <a:r>
              <a:rPr>
                <a:latin typeface="Courier"/>
              </a:rPr>
              <a:t>mutate()</a:t>
            </a:r>
            <a:r>
              <a:rPr/>
              <a:t> to clean it.</a:t>
            </a:r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Data-Cleaning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country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slice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wars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parse_number</a:t>
            </a:r>
            <a:r>
              <a:rPr>
                <a:latin typeface="Courier"/>
              </a:rPr>
              <a:t>(wars),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pres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parse_number</a:t>
            </a:r>
            <a:r>
              <a:rPr>
                <a:latin typeface="Courier"/>
              </a:rPr>
              <a:t>(pres)</a:t>
            </a:r>
            <a:br/>
            <a:r>
              <a:rPr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3 × 4
  country  wars  pres par
1 USA         2     1 Congress
2 China       4     0 None
3 Germany     5     1 Parliament</a:t>
            </a:r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Reading Data into 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data will come from a file, often a CSV.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(tidyverse)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Base R</a:t>
            </a:r>
            <a:br/>
            <a:r>
              <a:rPr>
                <a:latin typeface="Courier"/>
              </a:rPr>
              <a:t>anes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read.csv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"anes.csv"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tidyverse</a:t>
            </a:r>
            <a:br/>
            <a:r>
              <a:rPr>
                <a:latin typeface="Courier"/>
              </a:rPr>
              <a:t>anes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"anes.csv"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Running these lines sequentially leaves only the second version of </a:t>
            </a:r>
            <a:r>
              <a:rPr>
                <a:latin typeface="Courier"/>
              </a:rPr>
              <a:t>anes</a:t>
            </a:r>
            <a:r>
              <a:rPr/>
              <a:t> in the global environment.</a:t>
            </a:r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Working Directories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previous code works only if the file is in your </a:t>
            </a:r>
            <a:r>
              <a:rPr b="1"/>
              <a:t>working directory</a:t>
            </a:r>
            <a:r>
              <a:rPr/>
              <a:t>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setwd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"C:/Users/Austin/path/to/file"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anes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read.csv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"anes.csv"</a:t>
            </a:r>
            <a:r>
              <a:rPr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On Windows, use forward slashes and place the path inside quotation marks.</a:t>
            </a:r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More on Working Directories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Change the working directory with </a:t>
            </a:r>
            <a:r>
              <a:rPr>
                <a:latin typeface="Courier"/>
              </a:rPr>
              <a:t>setwd()</a:t>
            </a:r>
            <a:r>
              <a:rPr/>
              <a:t>.</a:t>
            </a:r>
          </a:p>
          <a:p>
            <a:pPr lvl="0"/>
            <a:r>
              <a:rPr/>
              <a:t>Check it with </a:t>
            </a:r>
            <a:r>
              <a:rPr>
                <a:latin typeface="Courier"/>
              </a:rPr>
              <a:t>getwd()</a:t>
            </a:r>
            <a:r>
              <a:rPr/>
              <a:t>.</a:t>
            </a:r>
          </a:p>
          <a:p>
            <a:pPr lvl="0"/>
            <a:r>
              <a:rPr/>
              <a:t>Alternatives:</a:t>
            </a:r>
          </a:p>
          <a:p>
            <a:pPr lvl="1"/>
            <a:r>
              <a:rPr/>
              <a:t>Open R by opening an R script.</a:t>
            </a:r>
          </a:p>
          <a:p>
            <a:pPr lvl="1"/>
            <a:r>
              <a:rPr/>
              <a:t>Specify the full path in your code.</a:t>
            </a:r>
          </a:p>
          <a:p>
            <a:pPr lvl="1"/>
            <a:r>
              <a:rPr/>
              <a:t>Work inside an R project.</a:t>
            </a:r>
          </a:p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(tidyverse)</a:t>
            </a:r>
            <a:br/>
            <a:r>
              <a:rPr>
                <a:latin typeface="Courier"/>
              </a:rPr>
              <a:t>anes </a:t>
            </a:r>
            <a:r>
              <a:rPr>
                <a:solidFill>
                  <a:srgbClr val="007020"/>
                </a:solidFill>
                <a:latin typeface="Courier"/>
              </a:rPr>
              <a:t>&lt;-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"C:/Users/Austin/path/to/file/anes.csv"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Practice: Olympics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course website under Day 1, download the Olympics data and:</a:t>
            </a:r>
          </a:p>
          <a:p>
            <a:pPr lvl="0" indent="-342900" marL="342900">
              <a:buAutoNum type="arabicPeriod"/>
            </a:pPr>
            <a:r>
              <a:rPr/>
              <a:t>Read it with both </a:t>
            </a:r>
            <a:r>
              <a:rPr>
                <a:latin typeface="Courier"/>
              </a:rPr>
              <a:t>read_csv()</a:t>
            </a:r>
            <a:r>
              <a:rPr/>
              <a:t> and </a:t>
            </a:r>
            <a:r>
              <a:rPr>
                <a:latin typeface="Courier"/>
              </a:rPr>
              <a:t>read.csv()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Keep only country, winter, and summer with </a:t>
            </a:r>
            <a:r>
              <a:rPr>
                <a:latin typeface="Courier"/>
              </a:rPr>
              <a:t>select()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Rename the variables clearly.</a:t>
            </a:r>
          </a:p>
          <a:p>
            <a:pPr lvl="0" indent="-342900" marL="342900">
              <a:buAutoNum type="arabicPeriod"/>
            </a:pPr>
            <a:r>
              <a:rPr/>
              <a:t>Create a total-medals variable.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>
                <a:latin typeface="Courier"/>
              </a:rPr>
              <a:t>filter()</a:t>
            </a:r>
            <a:r>
              <a:rPr/>
              <a:t> to show one country.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>
                <a:latin typeface="Courier"/>
              </a:rPr>
              <a:t>filter()</a:t>
            </a:r>
            <a:r>
              <a:rPr/>
              <a:t> to remove one country.</a:t>
            </a:r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rowwise()</a:t>
            </a:r>
            <a:r>
              <a:rPr/>
              <a:t> 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Replace data with the name of your own data frame.</a:t>
            </a:r>
            <a:br/>
            <a:r>
              <a:rPr>
                <a:latin typeface="Courier"/>
              </a:rPr>
              <a:t>data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rowwise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()</a:t>
            </a:r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Olympics Data: Complete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6287E"/>
                </a:solidFill>
                <a:latin typeface="Courier"/>
              </a:rPr>
              <a:t>library</a:t>
            </a:r>
            <a:r>
              <a:rPr>
                <a:latin typeface="Courier"/>
              </a:rPr>
              <a:t>(tidyverse)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1. Read the data.</a:t>
            </a:r>
            <a:br/>
            <a:r>
              <a:rPr>
                <a:solidFill>
                  <a:srgbClr val="06287E"/>
                </a:solidFill>
                <a:latin typeface="Courier"/>
              </a:rPr>
              <a:t>read.csv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"olympics.csv"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007020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olympics</a:t>
            </a:r>
            <a:br/>
            <a:r>
              <a:rPr>
                <a:solidFill>
                  <a:srgbClr val="06287E"/>
                </a:solidFill>
                <a:latin typeface="Courier"/>
              </a:rPr>
              <a:t>read_csv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"olympics.csv"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2. Keep only the variables we want.</a:t>
            </a:r>
            <a:br/>
            <a:r>
              <a:rPr>
                <a:latin typeface="Courier"/>
              </a:rPr>
              <a:t>olympics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select</a:t>
            </a:r>
            <a:r>
              <a:rPr>
                <a:latin typeface="Courier"/>
              </a:rPr>
              <a:t>(X0, X1, X6) </a:t>
            </a:r>
            <a:r>
              <a:rPr>
                <a:solidFill>
                  <a:srgbClr val="007020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olympics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3. Rename the variables.</a:t>
            </a:r>
            <a:br/>
            <a:r>
              <a:rPr>
                <a:latin typeface="Courier"/>
              </a:rPr>
              <a:t>olympics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rename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country =</a:t>
            </a:r>
            <a:r>
              <a:rPr>
                <a:latin typeface="Courier"/>
              </a:rPr>
              <a:t> X0,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summer  =</a:t>
            </a:r>
            <a:r>
              <a:rPr>
                <a:latin typeface="Courier"/>
              </a:rPr>
              <a:t> X1,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winter  =</a:t>
            </a:r>
            <a:r>
              <a:rPr>
                <a:latin typeface="Courier"/>
              </a:rPr>
              <a:t> X6</a:t>
            </a:r>
            <a:br/>
            <a:r>
              <a:rPr>
                <a:latin typeface="Courier"/>
              </a:rPr>
              <a:t>  ) </a:t>
            </a:r>
            <a:r>
              <a:rPr>
                <a:solidFill>
                  <a:srgbClr val="007020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olympics</a:t>
            </a:r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Olympics Data: Solution, Continued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i="1">
                <a:solidFill>
                  <a:srgbClr val="60A0B0"/>
                </a:solidFill>
                <a:latin typeface="Courier"/>
              </a:rPr>
              <a:t># 4. Create the total-medals variable.</a:t>
            </a:r>
            <a:br/>
            <a:r>
              <a:rPr>
                <a:latin typeface="Courier"/>
              </a:rPr>
              <a:t>olympics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slice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70A0"/>
                </a:solidFill>
                <a:latin typeface="Courier"/>
              </a:rPr>
              <a:t>-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)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rowwise</a:t>
            </a:r>
            <a:r>
              <a:rPr>
                <a:latin typeface="Courier"/>
              </a:rPr>
              <a:t>()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mutate</a:t>
            </a:r>
            <a:r>
              <a:rPr>
                <a:latin typeface="Courier"/>
              </a:rPr>
              <a:t>(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7D9029"/>
                </a:solidFill>
                <a:latin typeface="Courier"/>
              </a:rPr>
              <a:t>total 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6287E"/>
                </a:solidFill>
                <a:latin typeface="Courier"/>
              </a:rPr>
              <a:t>sum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06287E"/>
                </a:solidFill>
                <a:latin typeface="Courier"/>
              </a:rPr>
              <a:t>parse_number</a:t>
            </a:r>
            <a:r>
              <a:rPr>
                <a:latin typeface="Courier"/>
              </a:rPr>
              <a:t>(summer), </a:t>
            </a:r>
            <a:r>
              <a:rPr>
                <a:solidFill>
                  <a:srgbClr val="06287E"/>
                </a:solidFill>
                <a:latin typeface="Courier"/>
              </a:rPr>
              <a:t>parse_number</a:t>
            </a:r>
            <a:r>
              <a:rPr>
                <a:latin typeface="Courier"/>
              </a:rPr>
              <a:t>(winter))</a:t>
            </a:r>
            <a:br/>
            <a:r>
              <a:rPr>
                <a:latin typeface="Courier"/>
              </a:rPr>
              <a:t>  ) </a:t>
            </a:r>
            <a:r>
              <a:rPr>
                <a:solidFill>
                  <a:srgbClr val="007020"/>
                </a:solidFill>
                <a:latin typeface="Courier"/>
              </a:rPr>
              <a:t>-&gt;</a:t>
            </a:r>
            <a:r>
              <a:rPr>
                <a:latin typeface="Courier"/>
              </a:rPr>
              <a:t> olympics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5. Keep only Germany.</a:t>
            </a:r>
            <a:br/>
            <a:r>
              <a:rPr>
                <a:latin typeface="Courier"/>
              </a:rPr>
              <a:t>olympics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(country </a:t>
            </a:r>
            <a:r>
              <a:rPr>
                <a:solidFill>
                  <a:srgbClr val="4070A0"/>
                </a:solidFill>
                <a:latin typeface="Courier"/>
              </a:rPr>
              <a:t>==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"Germany"</a:t>
            </a:r>
            <a:r>
              <a:rPr>
                <a:latin typeface="Courier"/>
              </a:rPr>
              <a:t>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6. Remove Chile.</a:t>
            </a:r>
            <a:br/>
            <a:r>
              <a:rPr>
                <a:latin typeface="Courier"/>
              </a:rPr>
              <a:t>olympics </a:t>
            </a:r>
            <a:r>
              <a:rPr>
                <a:solidFill>
                  <a:srgbClr val="4070A0"/>
                </a:solidFill>
                <a:latin typeface="Courier"/>
              </a:rPr>
              <a:t>%&gt;%</a:t>
            </a:r>
            <a:br/>
            <a:r>
              <a:rPr>
                <a:latin typeface="Courier"/>
              </a:rPr>
              <a:t>  </a:t>
            </a:r>
            <a:r>
              <a:rPr>
                <a:solidFill>
                  <a:srgbClr val="06287E"/>
                </a:solidFill>
                <a:latin typeface="Courier"/>
              </a:rPr>
              <a:t>filter</a:t>
            </a:r>
            <a:r>
              <a:rPr>
                <a:latin typeface="Courier"/>
              </a:rPr>
              <a:t>(country </a:t>
            </a:r>
            <a:r>
              <a:rPr>
                <a:solidFill>
                  <a:srgbClr val="4070A0"/>
                </a:solidFill>
                <a:latin typeface="Courier"/>
              </a:rPr>
              <a:t>!=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"Chile"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Keep Building from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Replace the nine image placeholders when the original image files are available.</a:t>
            </a:r>
          </a:p>
          <a:p>
            <a:pPr lvl="0"/>
            <a:r>
              <a:rPr/>
              <a:t>Edit any title, bullet, code block, or example directly in this </a:t>
            </a:r>
            <a:r>
              <a:rPr>
                <a:latin typeface="Courier"/>
              </a:rPr>
              <a:t>.qmd</a:t>
            </a:r>
            <a:r>
              <a:rPr/>
              <a:t> file.</a:t>
            </a:r>
          </a:p>
          <a:p>
            <a:pPr lvl="0"/>
            <a:r>
              <a:rPr/>
              <a:t>Render again to create a fresh, editable PowerPoint deck.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So You’re About to Be a Grad Student?</dc:title>
  <dc:creator>Taylor Hill</dc:creator>
  <cp:keywords/>
  <dcterms:created xsi:type="dcterms:W3CDTF">2026-08-04T21:32:47Z</dcterms:created>
  <dcterms:modified xsi:type="dcterms:W3CDTF">2026-08-04T21:32:47Z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institute">
    <vt:lpwstr>FSU</vt:lpwstr>
  </property>
  <property fmtid="{D5CDD505-2E9C-101B-9397-08002B2CF9AE}" pid="12" name="institutes">
    <vt:lpwstr/>
  </property>
  <property fmtid="{D5CDD505-2E9C-101B-9397-08002B2CF9AE}" pid="13" name="labels">
    <vt:lpwstr/>
  </property>
  <property fmtid="{D5CDD505-2E9C-101B-9397-08002B2CF9AE}" pid="14" name="subtitle">
    <vt:lpwstr>Day 1 of the RI Workshop, Summer 2026</vt:lpwstr>
  </property>
  <property fmtid="{D5CDD505-2E9C-101B-9397-08002B2CF9AE}" pid="15" name="toc-title">
    <vt:lpwstr>Table of contents</vt:lpwstr>
  </property>
</Properties>
</file>