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335" r:id="rId14"/>
    <p:sldId id="270" r:id="rId15"/>
    <p:sldId id="271" r:id="rId16"/>
    <p:sldId id="272" r:id="rId17"/>
    <p:sldId id="273" r:id="rId18"/>
    <p:sldId id="274" r:id="rId19"/>
    <p:sldId id="324" r:id="rId20"/>
    <p:sldId id="325" r:id="rId21"/>
    <p:sldId id="275" r:id="rId22"/>
    <p:sldId id="326" r:id="rId23"/>
    <p:sldId id="327" r:id="rId24"/>
    <p:sldId id="329" r:id="rId25"/>
    <p:sldId id="328" r:id="rId26"/>
    <p:sldId id="280" r:id="rId27"/>
    <p:sldId id="281" r:id="rId28"/>
    <p:sldId id="282" r:id="rId29"/>
    <p:sldId id="330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4" r:id="rId40"/>
    <p:sldId id="295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296" r:id="rId51"/>
    <p:sldId id="306" r:id="rId52"/>
    <p:sldId id="307" r:id="rId53"/>
    <p:sldId id="308" r:id="rId54"/>
    <p:sldId id="310" r:id="rId55"/>
    <p:sldId id="331" r:id="rId56"/>
    <p:sldId id="332" r:id="rId57"/>
    <p:sldId id="311" r:id="rId58"/>
    <p:sldId id="313" r:id="rId59"/>
    <p:sldId id="333" r:id="rId60"/>
    <p:sldId id="314" r:id="rId61"/>
    <p:sldId id="316" r:id="rId62"/>
    <p:sldId id="317" r:id="rId63"/>
    <p:sldId id="334" r:id="rId64"/>
    <p:sldId id="318" r:id="rId6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08" autoAdjust="0"/>
    <p:restoredTop sz="94613" autoAdjust="0"/>
  </p:normalViewPr>
  <p:slideViewPr>
    <p:cSldViewPr snapToGrid="0" snapToObjects="1">
      <p:cViewPr varScale="1">
        <p:scale>
          <a:sx n="159" d="100"/>
          <a:sy n="159" d="100"/>
        </p:scale>
        <p:origin x="472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C0B9A-EB88-114E-AF68-1B92A546F29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15BE5-60F5-6F4F-9237-8B43F2690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82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15BE5-60F5-6F4F-9237-8B43F26903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13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15BE5-60F5-6F4F-9237-8B43F269030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47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5572-303B-7099-6ED4-3310DBC1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8FCD6-A548-8BF1-CC9D-A7AF98020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14C5B-B337-FA3E-8353-60DC3F341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9330B-688A-F149-E6A9-5F82B7161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15BE5-60F5-6F4F-9237-8B43F269030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63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C1074-BF73-2D1F-EFDB-295B0D19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5FCB7-0823-3132-0931-B00BF03DC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50E23-73E9-9365-BCF2-786DFBCC3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7EBB0-477D-B98E-35E2-156F6E5EF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15BE5-60F5-6F4F-9237-8B43F269030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5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15BE5-60F5-6F4F-9237-8B43F269030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73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15BE5-60F5-6F4F-9237-8B43F269030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24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ajors | Office of Admissions">
            <a:extLst>
              <a:ext uri="{FF2B5EF4-FFF2-40B4-BE49-F238E27FC236}">
                <a16:creationId xmlns:a16="http://schemas.microsoft.com/office/drawing/2014/main" id="{93180766-F866-4B28-D4F3-5A6D516384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3206" r="3485" b="1"/>
          <a:stretch>
            <a:fillRect/>
          </a:stretch>
        </p:blipFill>
        <p:spPr>
          <a:xfrm>
            <a:off x="20" y="10"/>
            <a:ext cx="9141692" cy="51434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229743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5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 to Graduate School and 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5286" y="3449574"/>
            <a:ext cx="6858000" cy="1152144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1 of the RI Workshop, Summer 2026</a:t>
            </a:r>
            <a:b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Taylor Hill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3276467"/>
            <a:ext cx="3182692" cy="13716"/>
          </a:xfrm>
          <a:custGeom>
            <a:avLst/>
            <a:gdLst>
              <a:gd name="csX0" fmla="*/ 0 w 3182692"/>
              <a:gd name="csY0" fmla="*/ 0 h 13716"/>
              <a:gd name="csX1" fmla="*/ 636538 w 3182692"/>
              <a:gd name="csY1" fmla="*/ 0 h 13716"/>
              <a:gd name="csX2" fmla="*/ 1273077 w 3182692"/>
              <a:gd name="csY2" fmla="*/ 0 h 13716"/>
              <a:gd name="csX3" fmla="*/ 1909615 w 3182692"/>
              <a:gd name="csY3" fmla="*/ 0 h 13716"/>
              <a:gd name="csX4" fmla="*/ 2482500 w 3182692"/>
              <a:gd name="csY4" fmla="*/ 0 h 13716"/>
              <a:gd name="csX5" fmla="*/ 3182692 w 3182692"/>
              <a:gd name="csY5" fmla="*/ 0 h 13716"/>
              <a:gd name="csX6" fmla="*/ 3182692 w 3182692"/>
              <a:gd name="csY6" fmla="*/ 13716 h 13716"/>
              <a:gd name="csX7" fmla="*/ 2609807 w 3182692"/>
              <a:gd name="csY7" fmla="*/ 13716 h 13716"/>
              <a:gd name="csX8" fmla="*/ 2068750 w 3182692"/>
              <a:gd name="csY8" fmla="*/ 13716 h 13716"/>
              <a:gd name="csX9" fmla="*/ 1432211 w 3182692"/>
              <a:gd name="csY9" fmla="*/ 13716 h 13716"/>
              <a:gd name="csX10" fmla="*/ 859327 w 3182692"/>
              <a:gd name="csY10" fmla="*/ 13716 h 13716"/>
              <a:gd name="csX11" fmla="*/ 0 w 3182692"/>
              <a:gd name="csY11" fmla="*/ 13716 h 13716"/>
              <a:gd name="csX12" fmla="*/ 0 w 3182692"/>
              <a:gd name="csY12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3716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2906" y="4075"/>
                  <a:pt x="3183008" y="9784"/>
                  <a:pt x="3182692" y="13716"/>
                </a:cubicBezTo>
                <a:cubicBezTo>
                  <a:pt x="2947402" y="17868"/>
                  <a:pt x="2876226" y="22619"/>
                  <a:pt x="2609807" y="13716"/>
                </a:cubicBezTo>
                <a:cubicBezTo>
                  <a:pt x="2343389" y="4813"/>
                  <a:pt x="2326689" y="21007"/>
                  <a:pt x="2068750" y="13716"/>
                </a:cubicBezTo>
                <a:cubicBezTo>
                  <a:pt x="1810811" y="6425"/>
                  <a:pt x="1713836" y="43647"/>
                  <a:pt x="1432211" y="13716"/>
                </a:cubicBezTo>
                <a:cubicBezTo>
                  <a:pt x="1150586" y="-16215"/>
                  <a:pt x="982765" y="-825"/>
                  <a:pt x="859327" y="13716"/>
                </a:cubicBezTo>
                <a:cubicBezTo>
                  <a:pt x="735889" y="28257"/>
                  <a:pt x="254183" y="30659"/>
                  <a:pt x="0" y="13716"/>
                </a:cubicBezTo>
                <a:cubicBezTo>
                  <a:pt x="-535" y="8247"/>
                  <a:pt x="-201" y="2959"/>
                  <a:pt x="0" y="0"/>
                </a:cubicBezTo>
                <a:close/>
              </a:path>
              <a:path w="3182692" h="13716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2126" y="5320"/>
                  <a:pt x="3182368" y="9001"/>
                  <a:pt x="3182692" y="13716"/>
                </a:cubicBezTo>
                <a:cubicBezTo>
                  <a:pt x="3026065" y="-15421"/>
                  <a:pt x="2775006" y="18495"/>
                  <a:pt x="2546154" y="13716"/>
                </a:cubicBezTo>
                <a:cubicBezTo>
                  <a:pt x="2317302" y="8937"/>
                  <a:pt x="2168173" y="-13085"/>
                  <a:pt x="1845961" y="13716"/>
                </a:cubicBezTo>
                <a:cubicBezTo>
                  <a:pt x="1523749" y="40517"/>
                  <a:pt x="1450078" y="-5416"/>
                  <a:pt x="1304904" y="13716"/>
                </a:cubicBezTo>
                <a:cubicBezTo>
                  <a:pt x="1159730" y="32848"/>
                  <a:pt x="942635" y="-14593"/>
                  <a:pt x="604711" y="13716"/>
                </a:cubicBezTo>
                <a:cubicBezTo>
                  <a:pt x="266787" y="42025"/>
                  <a:pt x="141927" y="-12967"/>
                  <a:pt x="0" y="13716"/>
                </a:cubicBezTo>
                <a:cubicBezTo>
                  <a:pt x="58" y="7834"/>
                  <a:pt x="453" y="5833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Introductions!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42" y="1208173"/>
            <a:ext cx="5767137" cy="3394472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Taylor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Hill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Rexburg, Idaho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American Behaviorist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interest: voting behavior, democratic backsliding, public opinion, experimental methods, political psychology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starting my 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d-year in the program.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married with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2-year-old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daughter and a baby girl on the way in September.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EA400-9E97-E655-C458-EB221D4AF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784" y="1047186"/>
            <a:ext cx="2292016" cy="343802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D22E8E-CCDD-A64C-F31C-1C0F082E96EC}"/>
              </a:ext>
            </a:extLst>
          </p:cNvPr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What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is this w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orkshop?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workshop is an introduction to using R.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prior knowledge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assumed.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make your time in POS 5737 and future methods courses a little easier.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 is fairly complicated to use, but we’re going to get as far as we can this week!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okay if we do not get through everything, the goal is to ensure that you understand the basics of R.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3F31EE-46BC-BBE1-F362-EA1073FC3E7D}"/>
              </a:ext>
            </a:extLst>
          </p:cNvPr>
          <p:cNvCxnSpPr/>
          <p:nvPr/>
        </p:nvCxnSpPr>
        <p:spPr>
          <a:xfrm>
            <a:off x="457200" y="1074821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Ground Rules for the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ask questions–feel free to interrupt at any time.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material will build fast so please make sure you understand each step before we move to the next one.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okay if we need to take more time on a certain concept to ensure that everyone understands.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into Stack Exchange–this is a great resource when you run into coding issues.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Help function in RStudio–we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talk more about how to do this.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use AI… more on this in a minute.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DDEE64-354C-1DDF-9272-A68B0B865377}"/>
              </a:ext>
            </a:extLst>
          </p:cNvPr>
          <p:cNvCxnSpPr/>
          <p:nvPr/>
        </p:nvCxnSpPr>
        <p:spPr>
          <a:xfrm>
            <a:off x="457200" y="970547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3064042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to FSU!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3834063" cy="339447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I’m sure you are aware, you are joining one of the best political science departments in the country.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best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political science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in the state of Florida.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FSU pu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nches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its weigh in publications in top journals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our rank.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4FAE2C-6C3B-23AF-9C22-6B51C8333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4726243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747895-83F6-EABE-1C2E-6D5031CCD74F}"/>
              </a:ext>
            </a:extLst>
          </p:cNvPr>
          <p:cNvSpPr/>
          <p:nvPr/>
        </p:nvSpPr>
        <p:spPr>
          <a:xfrm>
            <a:off x="4973052" y="538352"/>
            <a:ext cx="561473" cy="962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D627B2-44A3-4E1C-354A-F7FEE26A2C5E}"/>
              </a:ext>
            </a:extLst>
          </p:cNvPr>
          <p:cNvCxnSpPr>
            <a:cxnSpLocks/>
          </p:cNvCxnSpPr>
          <p:nvPr/>
        </p:nvCxnSpPr>
        <p:spPr>
          <a:xfrm flipV="1">
            <a:off x="457200" y="983018"/>
            <a:ext cx="3537284" cy="1159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What 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To Expect From Grad School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37025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not undergrad 2.0–it is less structured, you have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freedom.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that can be good, it requires more personal discipline.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lot of work.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 to read about 300 pages a week,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1 problem set,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occasional papers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top of your RA/ODL responsibilities.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very rewarding, and you will learn A LOT.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is here to support you.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 out to your advisor, fellow graduate students, your professors, or Carlisle if you are facing any challenges.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intimidating at first to reach out to professors, but they are more than happy to help.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CBB902E-5BA3-74F3-2249-0EEA0E973860}"/>
              </a:ext>
            </a:extLst>
          </p:cNvPr>
          <p:cNvCxnSpPr/>
          <p:nvPr/>
        </p:nvCxnSpPr>
        <p:spPr>
          <a:xfrm>
            <a:off x="457200" y="994610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>
                <a:latin typeface="Aharoni" panose="02010803020104030203" pitchFamily="2" charset="-79"/>
                <a:cs typeface="Aharoni" panose="02010803020104030203" pitchFamily="2" charset="-79"/>
              </a:rPr>
              <a:t>How to Be Successful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Go to class</a:t>
            </a:r>
          </a:p>
          <a:p>
            <a:pPr lvl="0"/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Participate when you do go to class.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the readings!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 to class with thoughts and comments about the readings.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Besides methods classes, the 2.5 hours of class are controlled by the students talking. It can get really awkward if no one has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the readings.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Go to department functions.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three hours of your contract are allotted to professionalization events.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colloquiums, job talks, and guest speakers are part of your paycheck.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also very helpful and allow you to learn some important skills.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Fulfill your GA and RA responsibilities.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differ in what they ask, but they are usually good about respecting the allotted time.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 a problem, talk to Carlisle.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never heard of anyone being over worked or taken advantage of in these roles.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E10AFD-5A60-40BA-CCA9-F287098CC072}"/>
              </a:ext>
            </a:extLst>
          </p:cNvPr>
          <p:cNvCxnSpPr/>
          <p:nvPr/>
        </p:nvCxnSpPr>
        <p:spPr>
          <a:xfrm>
            <a:off x="457200" y="962526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The Most Important Way to Be Successful: </a:t>
            </a:r>
            <a:r>
              <a:rPr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 NOT RELY ON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27869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AI in graduate school is a slippery slope! 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very easy and inciting to get AI to summari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readings for you, write the code for your problem sets, or do your work for you.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extremely hard to be successful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graduate school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rely heavily on AI.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significant part of this program requires students to orally defend their theory, methods, and arguments.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Relying on AI will make this very difficult.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Relying on AI summaries of the text or AI generated code will leave you confused and left behind as the courses move quickly through material.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AI as sparingly as possible. </a:t>
            </a:r>
          </a:p>
          <a:p>
            <a:pPr lvl="0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DO NOT ALLOW AI TO REPLACE LEARNING. 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FEB7A1-E5E2-153E-357C-633061E5E3A0}"/>
              </a:ext>
            </a:extLst>
          </p:cNvPr>
          <p:cNvCxnSpPr/>
          <p:nvPr/>
        </p:nvCxnSpPr>
        <p:spPr>
          <a:xfrm>
            <a:off x="457200" y="1130968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How to Use AI</a:t>
            </a:r>
            <a:r>
              <a:rPr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Effectively</a:t>
            </a:r>
            <a:r>
              <a:rPr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for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759" y="1200151"/>
            <a:ext cx="8582526" cy="3737367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a very useful tool for coding--but not if you rely on it to do everything for you. </a:t>
            </a:r>
          </a:p>
          <a:p>
            <a:pPr lvl="0"/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that you learn how to do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you begin using AI. 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coding is still far from perfect.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must be able to check the work the AI model did for you to ensure that your code is correct.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should also be able to explain any code that you have AI produce for you.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approach</a:t>
            </a:r>
          </a:p>
          <a:p>
            <a:pPr marL="685800" lvl="1" indent="-342900"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through a problem on your own as best as you can.</a:t>
            </a:r>
          </a:p>
          <a:p>
            <a:pPr marL="685800" lvl="1" indent="-342900"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your code is returning errors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you are stuck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copy and paste the error into an AI model to help problem solve.</a:t>
            </a:r>
          </a:p>
          <a:p>
            <a:pPr marL="685800" lvl="1" indent="-342900"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AI generates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for you, pepper it with questions to ensure you fully understand what each line of code is doing.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workshop, try not to use AI. We need to make sure you understand R first.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565041-6A86-7EE5-35A8-52952578A7FC}"/>
              </a:ext>
            </a:extLst>
          </p:cNvPr>
          <p:cNvCxnSpPr/>
          <p:nvPr/>
        </p:nvCxnSpPr>
        <p:spPr>
          <a:xfrm>
            <a:off x="457200" y="986589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Managing Graduate School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Impostor syndrome is real. Do your best not to let it get to you.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FSU has therapy resources–while not all students need this, it is a great resource.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together with your cohort.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Cohorts that work together stay together.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is welcomed in most methods classes—just turn in your own work.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a schedule and learn when you work best.</a:t>
            </a:r>
          </a:p>
          <a:p>
            <a:pPr lvl="0"/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things other than graduate school.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Tallahassee and FSU have plenty to explore- Wakulla Springs, 30A beaches, St. George Island, etc.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4D7F94-F114-778D-EC5C-7CDEE502D935}"/>
              </a:ext>
            </a:extLst>
          </p:cNvPr>
          <p:cNvCxnSpPr/>
          <p:nvPr/>
        </p:nvCxnSpPr>
        <p:spPr>
          <a:xfrm>
            <a:off x="457200" y="994610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Workshop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Website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D9BBA4-4DC2-1559-5FB3-31D396D14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822720"/>
            <a:ext cx="4178969" cy="417896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80D211E-AC71-57D0-5DF6-86077DA03F2C}"/>
              </a:ext>
            </a:extLst>
          </p:cNvPr>
          <p:cNvSpPr txBox="1">
            <a:spLocks/>
          </p:cNvSpPr>
          <p:nvPr/>
        </p:nvSpPr>
        <p:spPr>
          <a:xfrm>
            <a:off x="4355432" y="1200151"/>
            <a:ext cx="4331368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website will have all of the slides, code, data, and other resources to help you get the most out of this workshop.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AF299D-FD5A-B2A8-3BE7-994E87AA8C9A}"/>
              </a:ext>
            </a:extLst>
          </p:cNvPr>
          <p:cNvCxnSpPr/>
          <p:nvPr/>
        </p:nvCxnSpPr>
        <p:spPr>
          <a:xfrm>
            <a:off x="457200" y="978568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sz="5400" dirty="0">
                <a:latin typeface="Aharoni" panose="02010803020104030203" pitchFamily="2" charset="-79"/>
                <a:cs typeface="Aharoni" panose="02010803020104030203" pitchFamily="2" charset="-79"/>
              </a:rPr>
              <a:t>Installing RStudio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50AA-19A5-D124-0B36-318079E6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Download Day </a:t>
            </a:r>
            <a:r>
              <a:rPr lang="en-US" sz="4400" dirty="0"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R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5AB9C-A8A2-DA3A-F5D2-E10D174F4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the link for “Day 1 Code” under course materials.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it is downloaded, I recommend making an R workshop folder on your device.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the code to your R workshop folder.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click to open in R.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will have you follow along with the code, running each line, and will have you practice writing your own code on this script. </a:t>
            </a:r>
          </a:p>
        </p:txBody>
      </p:sp>
    </p:spTree>
    <p:extLst>
      <p:ext uri="{BB962C8B-B14F-4D97-AF65-F5344CB8AC3E}">
        <p14:creationId xmlns:p14="http://schemas.microsoft.com/office/powerpoint/2010/main" val="3893637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4400" dirty="0">
                <a:latin typeface="Aharoni" panose="02010803020104030203" pitchFamily="2" charset="-79"/>
                <a:cs typeface="Aharoni" panose="02010803020104030203" pitchFamily="2" charset="-79"/>
              </a:rPr>
              <a:t>Changing the RStudio Theme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3E3303-6B6A-BE31-0DB1-EA880B365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178" y="0"/>
            <a:ext cx="8245643" cy="51535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3BADD44-C4AA-06D6-4099-4A724925A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59E1E2F-80B6-C4B0-9AF1-09E34D2881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A1D5A90-95D8-39B3-9FF7-52149166E500}"/>
              </a:ext>
            </a:extLst>
          </p:cNvPr>
          <p:cNvSpPr/>
          <p:nvPr/>
        </p:nvSpPr>
        <p:spPr>
          <a:xfrm>
            <a:off x="457200" y="2943726"/>
            <a:ext cx="5919537" cy="219977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DE557C-4001-8B80-7FFC-6CF866EA569B}"/>
              </a:ext>
            </a:extLst>
          </p:cNvPr>
          <p:cNvSpPr txBox="1"/>
          <p:nvPr/>
        </p:nvSpPr>
        <p:spPr>
          <a:xfrm>
            <a:off x="457200" y="689810"/>
            <a:ext cx="5590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where you run the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Generally, you do not type code directly into the console but rather run it from a script.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RStudio Theme: 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Image placeholder:</a:t>
            </a:r>
            <a:r>
              <a:t> </a:t>
            </a:r>
            <a:r>
              <a:rPr>
                <a:latin typeface="Courier"/>
              </a:rPr>
              <a:t>www/screenshot4.png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28F11A80-47A9-D2C2-7C88-5C16E7649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6223500-46D7-122E-3B3F-03A2E86E41BD}"/>
              </a:ext>
            </a:extLst>
          </p:cNvPr>
          <p:cNvSpPr/>
          <p:nvPr/>
        </p:nvSpPr>
        <p:spPr>
          <a:xfrm>
            <a:off x="457198" y="-1"/>
            <a:ext cx="5919537" cy="28625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7BCBB-D50D-C0E3-3577-D8F80A7D90F2}"/>
              </a:ext>
            </a:extLst>
          </p:cNvPr>
          <p:cNvSpPr txBox="1"/>
          <p:nvPr/>
        </p:nvSpPr>
        <p:spPr>
          <a:xfrm>
            <a:off x="621631" y="3411468"/>
            <a:ext cx="55906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where you write your code.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allows you to create an entire project of code and save it for future reference.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also essential for replication and uploading code required by most publications.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5480D-3CEE-0CFD-7D8C-1B28B585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A9014-A780-A5D9-136A-BE3A9D908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RStudio Theme: Step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7238F-72FF-BF10-9C57-81B4BBAE6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Image placeholder:</a:t>
            </a:r>
            <a:r>
              <a:t> </a:t>
            </a:r>
            <a:r>
              <a:rPr>
                <a:latin typeface="Courier"/>
              </a:rPr>
              <a:t>www/screenshot4.png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FEB6478B-1071-FE07-7D84-6CBB13DAA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3468A9E-4899-7C1C-ACDD-0EFF8858FEE7}"/>
              </a:ext>
            </a:extLst>
          </p:cNvPr>
          <p:cNvSpPr/>
          <p:nvPr/>
        </p:nvSpPr>
        <p:spPr>
          <a:xfrm>
            <a:off x="6408820" y="34796"/>
            <a:ext cx="2277979" cy="21068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5295C1-7B95-C2F7-ED06-BE449B45DB3D}"/>
              </a:ext>
            </a:extLst>
          </p:cNvPr>
          <p:cNvSpPr txBox="1"/>
          <p:nvPr/>
        </p:nvSpPr>
        <p:spPr>
          <a:xfrm>
            <a:off x="457199" y="664293"/>
            <a:ext cx="5590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where you can see all the “objects” you have saved.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includes data frames, vectors, etc.  </a:t>
            </a:r>
          </a:p>
        </p:txBody>
      </p:sp>
    </p:spTree>
    <p:extLst>
      <p:ext uri="{BB962C8B-B14F-4D97-AF65-F5344CB8AC3E}">
        <p14:creationId xmlns:p14="http://schemas.microsoft.com/office/powerpoint/2010/main" val="1757902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71E05-6EF6-9030-19C7-327DC2DA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610B-B36B-9C3E-6F98-64069F78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RStudio Theme: Step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C3BCD-E9A2-BE62-416B-7025E0E10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Image placeholder:</a:t>
            </a:r>
            <a:r>
              <a:t> </a:t>
            </a:r>
            <a:r>
              <a:rPr>
                <a:latin typeface="Courier"/>
              </a:rPr>
              <a:t>www/screenshot4.png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A526F5E3-7C86-23C7-074B-336153960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168"/>
            <a:ext cx="8229600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5194406-965B-5393-7BE4-36F5033B03A8}"/>
              </a:ext>
            </a:extLst>
          </p:cNvPr>
          <p:cNvSpPr/>
          <p:nvPr/>
        </p:nvSpPr>
        <p:spPr>
          <a:xfrm>
            <a:off x="6408821" y="2133600"/>
            <a:ext cx="2277979" cy="30099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1B674-A209-6219-0D6C-BD0D9064E30A}"/>
              </a:ext>
            </a:extLst>
          </p:cNvPr>
          <p:cNvSpPr txBox="1"/>
          <p:nvPr/>
        </p:nvSpPr>
        <p:spPr>
          <a:xfrm>
            <a:off x="457200" y="471788"/>
            <a:ext cx="55906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sections has a lot of helpful tabs.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 shows you what files you have in your working directory.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Plots display your plot after you run the code for it.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 shows the packages you have installed and can find info about each one. 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 displays info about different commands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907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4400" dirty="0">
                <a:latin typeface="Aharoni" panose="02010803020104030203" pitchFamily="2" charset="-79"/>
                <a:cs typeface="Aharoni" panose="02010803020104030203" pitchFamily="2" charset="-79"/>
              </a:rPr>
              <a:t>Live Demo Parts of RStudio</a:t>
            </a:r>
            <a:endParaRPr sz="4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E090-0FEB-3241-C854-0A538C655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Running Code: </a:t>
            </a:r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1) 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Type in the Console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6C70FC-77B7-47EF-D6B0-75A4040C0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4" y="691816"/>
            <a:ext cx="7122695" cy="44516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2F5567-2FFA-25E7-4834-E048241E6AB9}"/>
              </a:ext>
            </a:extLst>
          </p:cNvPr>
          <p:cNvSpPr txBox="1"/>
          <p:nvPr/>
        </p:nvSpPr>
        <p:spPr>
          <a:xfrm>
            <a:off x="1066801" y="1440330"/>
            <a:ext cx="55906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your code in the console.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Hit enter or return to run the code.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for quick commands you don’t need to save.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Shouldn’t be done very often.</a:t>
            </a:r>
          </a:p>
        </p:txBody>
      </p:sp>
    </p:spTree>
    <p:extLst>
      <p:ext uri="{BB962C8B-B14F-4D97-AF65-F5344CB8AC3E}">
        <p14:creationId xmlns:p14="http://schemas.microsoft.com/office/powerpoint/2010/main" val="1676117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7A338-5A70-52C1-5537-C5EDF45FD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1E18-CCDE-A02B-79EC-C172DAA4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Running Code: </a:t>
            </a:r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2) Type in Script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089D7F-382A-006D-2699-5F2514030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57" y="636670"/>
            <a:ext cx="7210925" cy="450682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A146353-BE32-E299-DE50-90A943C1BEA1}"/>
              </a:ext>
            </a:extLst>
          </p:cNvPr>
          <p:cNvSpPr/>
          <p:nvPr/>
        </p:nvSpPr>
        <p:spPr>
          <a:xfrm>
            <a:off x="1098884" y="665747"/>
            <a:ext cx="1155032" cy="2967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AFF68A-2B1B-3527-8C87-8AEE2EFD773C}"/>
              </a:ext>
            </a:extLst>
          </p:cNvPr>
          <p:cNvSpPr txBox="1"/>
          <p:nvPr/>
        </p:nvSpPr>
        <p:spPr>
          <a:xfrm>
            <a:off x="2382253" y="1200151"/>
            <a:ext cx="38501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a new R script by clicking the paper image in the top corner and then “R Script”</a:t>
            </a:r>
          </a:p>
        </p:txBody>
      </p:sp>
    </p:spTree>
    <p:extLst>
      <p:ext uri="{BB962C8B-B14F-4D97-AF65-F5344CB8AC3E}">
        <p14:creationId xmlns:p14="http://schemas.microsoft.com/office/powerpoint/2010/main" val="1322096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5F08-7316-0430-AB78-1302152E4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1BA2E-BE9B-C476-EDBC-3A8A4E112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F5A617-F2EA-8734-5FAB-FE377C85D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599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44B4F3-771A-E9EF-693A-601F07C076D1}"/>
              </a:ext>
            </a:extLst>
          </p:cNvPr>
          <p:cNvSpPr txBox="1"/>
          <p:nvPr/>
        </p:nvSpPr>
        <p:spPr>
          <a:xfrm>
            <a:off x="589987" y="1200151"/>
            <a:ext cx="56423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your code in a new R script.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shortcut Ctrl + Enter (Return) to run the code in the console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allows you to run code while also keeping a record of your code. </a:t>
            </a:r>
          </a:p>
        </p:txBody>
      </p:sp>
    </p:spTree>
    <p:extLst>
      <p:ext uri="{BB962C8B-B14F-4D97-AF65-F5344CB8AC3E}">
        <p14:creationId xmlns:p14="http://schemas.microsoft.com/office/powerpoint/2010/main" val="438630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051F-009B-5E60-C0C6-17FE43ECA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259038-69EA-EC89-7BAF-7813A1E0E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51B152-F236-1D0D-F4B7-F63EC68A276C}"/>
              </a:ext>
            </a:extLst>
          </p:cNvPr>
          <p:cNvSpPr txBox="1"/>
          <p:nvPr/>
        </p:nvSpPr>
        <p:spPr>
          <a:xfrm>
            <a:off x="3130149" y="2455383"/>
            <a:ext cx="31743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# to leave comments.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reminds you what your code is doing and also informs professors or co-authors. </a:t>
            </a:r>
          </a:p>
        </p:txBody>
      </p:sp>
    </p:spTree>
    <p:extLst>
      <p:ext uri="{BB962C8B-B14F-4D97-AF65-F5344CB8AC3E}">
        <p14:creationId xmlns:p14="http://schemas.microsoft.com/office/powerpoint/2010/main" val="2190329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Using R as a Calculator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256D9D-2353-D8BF-DB40-566098ED9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162" y="1063229"/>
            <a:ext cx="7795795" cy="362774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0F2D9F-842A-4DB8-D5AB-09EB1FC1CBAF}"/>
              </a:ext>
            </a:extLst>
          </p:cNvPr>
          <p:cNvCxnSpPr/>
          <p:nvPr/>
        </p:nvCxnSpPr>
        <p:spPr>
          <a:xfrm>
            <a:off x="457200" y="898358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Practice with R as a Calculator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Take a moment and perform the following calculations: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9+10</m:t>
                    </m:r>
                  </m:oMath>
                </a14:m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9×10</m:t>
                    </m:r>
                  </m:oMath>
                </a14:m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9/10</m:t>
                    </m:r>
                  </m:oMath>
                </a14:m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32</m:t>
                        </m:r>
                      </m:e>
                    </m:rad>
                  </m:oMath>
                </a14:m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>
                  <a:buNone/>
                </a:pP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defaults to the natural logarithm,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ln</m:t>
                    </m:r>
                  </m:oMath>
                </a14:m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0" t="-1119" b="-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DB678B-625C-E0E2-0470-FA43764BE26A}"/>
              </a:ext>
            </a:extLst>
          </p:cNvPr>
          <p:cNvCxnSpPr/>
          <p:nvPr/>
        </p:nvCxnSpPr>
        <p:spPr>
          <a:xfrm>
            <a:off x="457200" y="938463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Objects and Scalars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568" y="1610460"/>
            <a:ext cx="8414084" cy="1285140"/>
          </a:xfrm>
        </p:spPr>
        <p:txBody>
          <a:bodyPr>
            <a:normAutofit/>
          </a:bodyPr>
          <a:lstStyle/>
          <a:p>
            <a:pPr marL="628650" indent="-28575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how you create an object. After you run this code, you should be able to see b in your environment. </a:t>
            </a:r>
          </a:p>
          <a:p>
            <a:pPr marL="628650" indent="-28575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save a single value, a vector (multiple numbers), or an entire data frame by using the arrow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&lt;- </a:t>
            </a:r>
            <a:endParaRPr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B62DEC-C94B-C2D3-8BD7-927A123E5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63229"/>
            <a:ext cx="7772400" cy="547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C84936-9A38-78A9-C4B1-1E21649CB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91103"/>
            <a:ext cx="7772400" cy="64193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1E9936-F932-126C-2CF3-3EE98184E651}"/>
              </a:ext>
            </a:extLst>
          </p:cNvPr>
          <p:cNvSpPr txBox="1">
            <a:spLocks/>
          </p:cNvSpPr>
          <p:nvPr/>
        </p:nvSpPr>
        <p:spPr>
          <a:xfrm>
            <a:off x="272716" y="3528544"/>
            <a:ext cx="8414084" cy="385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indent="-28575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one way you can send a complex number for use later.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4EA1D-BFB0-8AE3-BC4B-A4D3B950D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14274"/>
            <a:ext cx="7772400" cy="105489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2019A9-9610-B992-C769-804E29C97D67}"/>
              </a:ext>
            </a:extLst>
          </p:cNvPr>
          <p:cNvCxnSpPr/>
          <p:nvPr/>
        </p:nvCxnSpPr>
        <p:spPr>
          <a:xfrm>
            <a:off x="457200" y="906379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E741B-79BB-AA1A-5955-C56538281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9C5A-92D9-42F1-B7D2-3E92114D6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Practice with 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Using Objects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58E5A7-B09F-D3AE-096C-7DEEC7EF7B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the following in R</a:t>
                </a:r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=100</a:t>
                </a:r>
              </a:p>
              <a:p>
                <a:pPr lv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44</a:t>
                </a:r>
              </a:p>
              <a:p>
                <a:pPr lv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= 89-82</a:t>
                </a:r>
              </a:p>
              <a:p>
                <a:pPr lvl="0"/>
                <a:r>
                  <a:rPr lang="en-US" dirty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rad>
                    <m:r>
                      <a:rPr lang="en-US" b="0" i="0" smtClean="0">
                        <a:latin typeface="Cambria Math" panose="02040503050406030204" pitchFamily="18" charset="0"/>
                      </a:rPr>
                      <m:t> ∗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c) + d</a:t>
                </a:r>
              </a:p>
              <a:p>
                <a:pPr lv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was the final number you got?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58E5A7-B09F-D3AE-096C-7DEEC7EF7B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AE0EE6-AE4F-9574-9375-A077EE67DEC3}"/>
              </a:ext>
            </a:extLst>
          </p:cNvPr>
          <p:cNvCxnSpPr/>
          <p:nvPr/>
        </p:nvCxnSpPr>
        <p:spPr>
          <a:xfrm>
            <a:off x="457200" y="970547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263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Strings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0E2942-D4AF-3FCE-1555-AAE0B7CDA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05827"/>
            <a:ext cx="8229600" cy="83225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spacing is allowed.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C0E6E8-475C-6160-4A5B-735EE08F4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50" y="2600693"/>
            <a:ext cx="8229600" cy="686680"/>
          </a:xfrm>
          <a:prstGeom prst="rect">
            <a:avLst/>
          </a:prstGeom>
        </p:spPr>
      </p:pic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4046CC8A-A7E9-2A21-8613-6890982A0466}"/>
              </a:ext>
            </a:extLst>
          </p:cNvPr>
          <p:cNvSpPr txBox="1">
            <a:spLocks/>
          </p:cNvSpPr>
          <p:nvPr/>
        </p:nvSpPr>
        <p:spPr>
          <a:xfrm>
            <a:off x="457198" y="3523442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can also be strings if we tell R to treat them as such with quotation marks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assign strings to objects.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4B18F7-9958-E52B-6F62-245BCD7A75E5}"/>
              </a:ext>
            </a:extLst>
          </p:cNvPr>
          <p:cNvCxnSpPr/>
          <p:nvPr/>
        </p:nvCxnSpPr>
        <p:spPr>
          <a:xfrm>
            <a:off x="457198" y="946484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48A8B97-2037-C187-7A45-39074A918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" y="1108346"/>
            <a:ext cx="8240052" cy="6866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Strings Cannot Be Used as Numbers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354BDA-CEE5-FFCB-6718-55BEA5EC5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3229"/>
            <a:ext cx="8154084" cy="7735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FF8EA4-709A-660C-CBF8-1E094BB79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4071"/>
            <a:ext cx="8153897" cy="659733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3F658B-B11C-05F9-D285-509E4018B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48" y="2086477"/>
            <a:ext cx="8229600" cy="85725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is true when you use numbers as strings.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DBB332-F23B-9994-DEB8-F0BE23EE2DC5}"/>
              </a:ext>
            </a:extLst>
          </p:cNvPr>
          <p:cNvCxnSpPr/>
          <p:nvPr/>
        </p:nvCxnSpPr>
        <p:spPr>
          <a:xfrm>
            <a:off x="419348" y="898358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Converting Strings to Numbers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D273D-615E-2726-2B5E-CCC6FB4E2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439"/>
            <a:ext cx="8328522" cy="1150582"/>
          </a:xfrm>
          <a:prstGeom prst="rect">
            <a:avLst/>
          </a:prstGeom>
        </p:spPr>
      </p:pic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AE0C680-C2F4-D0D1-1813-44FE36FFB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94021"/>
            <a:ext cx="8229600" cy="49730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class()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to see what class an object is.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B1D1B4-43AF-7C5B-0636-C28B10EB1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80" y="2791515"/>
            <a:ext cx="8321603" cy="130617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9841EE-4269-9574-F85F-687B8B9AF8A5}"/>
              </a:ext>
            </a:extLst>
          </p:cNvPr>
          <p:cNvCxnSpPr/>
          <p:nvPr/>
        </p:nvCxnSpPr>
        <p:spPr>
          <a:xfrm>
            <a:off x="450280" y="914400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>
                <a:latin typeface="Courier"/>
              </a:rPr>
              <a:t>parse_number</a:t>
            </a:r>
            <a:r>
              <a:rPr dirty="0">
                <a:latin typeface="Courier"/>
              </a:rPr>
              <a:t>()</a:t>
            </a:r>
            <a:r>
              <a:rPr dirty="0"/>
              <a:t> 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Extracts a Number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E53F4-DB54-B4F9-A33C-94359138D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63856"/>
            <a:ext cx="7754670" cy="857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E02330-F999-41D3-BAB6-6A68A1FA7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35155"/>
            <a:ext cx="7772400" cy="460079"/>
          </a:xfrm>
          <a:prstGeom prst="rect">
            <a:avLst/>
          </a:prstGeom>
        </p:spPr>
      </p:pic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9736F1AF-91DE-A7D8-A2BD-475C295CF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76904"/>
            <a:ext cx="8229600" cy="832255"/>
          </a:xfrm>
        </p:spPr>
        <p:txBody>
          <a:bodyPr>
            <a:normAutofit/>
          </a:bodyPr>
          <a:lstStyle/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parse_number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 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 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package.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8CA881-193B-B413-9F48-6742FAA31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70" y="3458623"/>
            <a:ext cx="7772400" cy="26496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159D1F6-5608-57E1-2CB6-6ABBFCC04409}"/>
              </a:ext>
            </a:extLst>
          </p:cNvPr>
          <p:cNvCxnSpPr/>
          <p:nvPr/>
        </p:nvCxnSpPr>
        <p:spPr>
          <a:xfrm>
            <a:off x="439470" y="906379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only one number is not realistic.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we work with collections of values called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types include:</a:t>
            </a:r>
          </a:p>
          <a:p>
            <a:pPr lvl="0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1.1, 2, and 100</a:t>
            </a:r>
          </a:p>
          <a:p>
            <a:pPr lvl="0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"Republican", "Democratic", and "Independent"</a:t>
            </a:r>
          </a:p>
          <a:p>
            <a:pPr lvl="0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ordered categories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(“Strongly agree”, “Agree”, “Disagree”, “Strongly Disagree”)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TRUE or FALSE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A7EF14-91BE-0A8A-B474-D3C3E3C16214}"/>
              </a:ext>
            </a:extLst>
          </p:cNvPr>
          <p:cNvCxnSpPr/>
          <p:nvPr/>
        </p:nvCxnSpPr>
        <p:spPr>
          <a:xfrm>
            <a:off x="457200" y="938463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Numeric 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C4017-7636-D931-8C94-641144300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0" y="1063229"/>
            <a:ext cx="8474940" cy="1591739"/>
          </a:xfrm>
          <a:prstGeom prst="rect">
            <a:avLst/>
          </a:prstGeom>
        </p:spPr>
      </p:pic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C0B01CA-1109-D8E9-2F18-F1422F01D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530" y="2848567"/>
            <a:ext cx="8229600" cy="83225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assign an entire numerical to an object.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use it in a command, it uses each number in the vector.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6CDAE9-76B9-45BC-0DF0-BC059EF9AB3B}"/>
              </a:ext>
            </a:extLst>
          </p:cNvPr>
          <p:cNvCxnSpPr/>
          <p:nvPr/>
        </p:nvCxnSpPr>
        <p:spPr>
          <a:xfrm>
            <a:off x="457200" y="898358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Character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975" y="2073568"/>
            <a:ext cx="8684049" cy="597444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functions do not work on character vectors.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01A24-247A-C379-1BFE-F3B4B0D13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5" y="1200151"/>
            <a:ext cx="8684049" cy="7364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247442-E058-E500-5B9C-9A38B039B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75" y="2734016"/>
            <a:ext cx="8654850" cy="90754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400912-B919-E80B-D3AF-1AD89A87EDA1}"/>
              </a:ext>
            </a:extLst>
          </p:cNvPr>
          <p:cNvCxnSpPr/>
          <p:nvPr/>
        </p:nvCxnSpPr>
        <p:spPr>
          <a:xfrm>
            <a:off x="457200" y="898358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Escape Sequences in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\n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 a new line.</a:t>
            </a:r>
          </a:p>
          <a:p>
            <a:pPr lvl="0"/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\t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inserts a tab.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87540-977D-2D8E-023C-F4271924B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15" y="2277917"/>
            <a:ext cx="8532031" cy="114707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6F63E3-AA1E-9CD7-DCDC-072324A47145}"/>
              </a:ext>
            </a:extLst>
          </p:cNvPr>
          <p:cNvCxnSpPr/>
          <p:nvPr/>
        </p:nvCxnSpPr>
        <p:spPr>
          <a:xfrm>
            <a:off x="457200" y="954505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89092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Factor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11116"/>
            <a:ext cx="8229600" cy="497306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the ordering is odd, and Independents are missing.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C9A57-0773-F4DF-3EAE-EDF8DB5EC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6342"/>
            <a:ext cx="8501316" cy="16254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38F85A-6CC0-0E8B-B34A-FAEB1628F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3149487"/>
            <a:ext cx="8529573" cy="95729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B9B2B5-D12C-9818-ED8C-81E55AE5987B}"/>
              </a:ext>
            </a:extLst>
          </p:cNvPr>
          <p:cNvCxnSpPr/>
          <p:nvPr/>
        </p:nvCxnSpPr>
        <p:spPr>
          <a:xfrm>
            <a:off x="457199" y="753979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Practice with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comments throughout your code.</a:t>
            </a:r>
          </a:p>
          <a:p>
            <a:pPr marL="0" lvl="0" indent="0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dirty="0" err="1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my_vector</a:t>
            </a:r>
            <a:r>
              <a:rPr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2, 6, 4, 3, 5, and 17.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sum with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sum().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each square root with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sqrt().</a:t>
            </a:r>
          </a:p>
          <a:p>
            <a:pPr marL="0" lvl="0" indent="0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and factor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Male, Female, Male, Male, Female.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ideology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Liberal, Moderate, Moderate, Conservative, Liberal.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both to a factor with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meaningfully ordered levels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716ACF-E815-7C60-04CC-F9D8273DB3FB}"/>
              </a:ext>
            </a:extLst>
          </p:cNvPr>
          <p:cNvCxnSpPr/>
          <p:nvPr/>
        </p:nvCxnSpPr>
        <p:spPr>
          <a:xfrm>
            <a:off x="457200" y="938463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are denoted by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NA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functions preserve them.</a:t>
            </a:r>
          </a:p>
          <a:p>
            <a:pPr lvl="0" indent="0">
              <a:buNone/>
            </a:pP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B3C7D-9C72-A8AD-CC5C-7FEBA4466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50" y="2209447"/>
            <a:ext cx="8253642" cy="160083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B65128-A053-3D01-95BE-C088ACF48C9D}"/>
              </a:ext>
            </a:extLst>
          </p:cNvPr>
          <p:cNvCxnSpPr/>
          <p:nvPr/>
        </p:nvCxnSpPr>
        <p:spPr>
          <a:xfrm>
            <a:off x="433137" y="906379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Data Frames and Tibbles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data will be organized as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frames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tibbles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a data frame or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tibble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collection of vectors.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C1CF38-C8D9-5419-3DCC-E974C1BD6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19" y="2175221"/>
            <a:ext cx="8286966" cy="78760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2A4CFF-E70D-7CB9-F64E-5EC67C557B3E}"/>
              </a:ext>
            </a:extLst>
          </p:cNvPr>
          <p:cNvCxnSpPr/>
          <p:nvPr/>
        </p:nvCxnSpPr>
        <p:spPr>
          <a:xfrm>
            <a:off x="457200" y="946484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Creating a Tibble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load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first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console: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F44951-0E5C-5F6F-23B9-7F4B0D68C3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573"/>
          <a:stretch>
            <a:fillRect/>
          </a:stretch>
        </p:blipFill>
        <p:spPr>
          <a:xfrm>
            <a:off x="457201" y="1819776"/>
            <a:ext cx="8229600" cy="74151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210523-EA2D-160E-2C52-B5BBD55192B8}"/>
              </a:ext>
            </a:extLst>
          </p:cNvPr>
          <p:cNvCxnSpPr/>
          <p:nvPr/>
        </p:nvCxnSpPr>
        <p:spPr>
          <a:xfrm>
            <a:off x="457200" y="962526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Calling a Column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or Value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50819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extracts one column as a vector.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AC817-668B-1D62-A736-B03B6746A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8" y="1708341"/>
            <a:ext cx="8682864" cy="946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085D20-78E6-A2FC-05F1-E9F0EA45F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83" y="3553301"/>
            <a:ext cx="8760434" cy="501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3D3661-7742-1351-4363-5B62E6BD353B}"/>
              </a:ext>
            </a:extLst>
          </p:cNvPr>
          <p:cNvSpPr txBox="1"/>
          <p:nvPr/>
        </p:nvSpPr>
        <p:spPr>
          <a:xfrm>
            <a:off x="30864" y="2973254"/>
            <a:ext cx="89213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square brackets to pull out a single value form a vector.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DACD33-741F-F6C6-4011-910A038D6119}"/>
              </a:ext>
            </a:extLst>
          </p:cNvPr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Combining Vectors into a Tibble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5EE5631-E1C5-0E3D-AAAB-C4A484ED8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124015"/>
            <a:ext cx="8229600" cy="226597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BF6671-4C62-8E6D-7852-CFBA3B07FDA3}"/>
              </a:ext>
            </a:extLst>
          </p:cNvPr>
          <p:cNvCxnSpPr/>
          <p:nvPr/>
        </p:nvCxnSpPr>
        <p:spPr>
          <a:xfrm>
            <a:off x="457200" y="898358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Editing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Data with </a:t>
            </a:r>
            <a:r>
              <a:rPr dirty="0">
                <a:latin typeface="Courier"/>
              </a:rPr>
              <a:t>mutate()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306285"/>
            <a:ext cx="8229600" cy="33944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%&gt;%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(|&gt;)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is a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Insert it with Ctrl—or Command—Shift-M.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D849A-4044-FFDA-3B1D-22C878A4B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35" y="1130986"/>
            <a:ext cx="8738498" cy="187253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5C9CAD-F585-3AC3-2F0F-192953A3F300}"/>
              </a:ext>
            </a:extLst>
          </p:cNvPr>
          <p:cNvCxnSpPr/>
          <p:nvPr/>
        </p:nvCxnSpPr>
        <p:spPr>
          <a:xfrm>
            <a:off x="457199" y="890337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The Base R Equivalent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1D6AA-2297-AD66-5E0C-D450D989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3" y="1063229"/>
            <a:ext cx="8566438" cy="141871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DB93F4-C706-4ECF-35CB-04B7F5D9E454}"/>
              </a:ext>
            </a:extLst>
          </p:cNvPr>
          <p:cNvCxnSpPr/>
          <p:nvPr/>
        </p:nvCxnSpPr>
        <p:spPr>
          <a:xfrm>
            <a:off x="457200" y="898358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Courier"/>
              </a:rPr>
              <a:t>mutate()</a:t>
            </a:r>
            <a:r>
              <a:rPr dirty="0"/>
              <a:t> 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and </a:t>
            </a:r>
            <a:r>
              <a:rPr dirty="0" err="1">
                <a:latin typeface="Courier"/>
              </a:rPr>
              <a:t>case_when</a:t>
            </a:r>
            <a:r>
              <a:rPr dirty="0">
                <a:latin typeface="Courier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6171"/>
            <a:ext cx="8229600" cy="3658452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case_when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variable condition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another variable.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F98C0-611F-CA06-C463-4B41D3DA7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80" y="1707391"/>
            <a:ext cx="8761639" cy="288723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8BBB51-5A0A-C370-0B68-4F712E6FC9DF}"/>
              </a:ext>
            </a:extLst>
          </p:cNvPr>
          <p:cNvCxnSpPr/>
          <p:nvPr/>
        </p:nvCxnSpPr>
        <p:spPr>
          <a:xfrm>
            <a:off x="457200" y="936171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>
                <a:latin typeface="Courier"/>
              </a:rPr>
              <a:t>filter()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filter()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keep rows matching a condition.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FC5BB-A6B0-99D8-26BA-E29FE1D52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" y="1756531"/>
            <a:ext cx="8792749" cy="140032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4261E6-08EA-1BB9-C566-EE2A1B944ECC}"/>
              </a:ext>
            </a:extLst>
          </p:cNvPr>
          <p:cNvCxnSpPr/>
          <p:nvPr/>
        </p:nvCxnSpPr>
        <p:spPr>
          <a:xfrm>
            <a:off x="457200" y="922421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Removing Rows with </a:t>
            </a:r>
            <a:r>
              <a:rPr dirty="0">
                <a:latin typeface="Courier"/>
              </a:rPr>
              <a:t>filter()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keep rows that are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equal to a value.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DC2323-E896-8AEA-E381-0E8F5E852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0" y="1819153"/>
            <a:ext cx="8957779" cy="177313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C82C99-C2DE-E1C4-4D1F-F36EBDA7B671}"/>
              </a:ext>
            </a:extLst>
          </p:cNvPr>
          <p:cNvCxnSpPr/>
          <p:nvPr/>
        </p:nvCxnSpPr>
        <p:spPr>
          <a:xfrm>
            <a:off x="457200" y="898358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6"/>
            <a:ext cx="8302751" cy="663893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300" b="0" dirty="0">
                <a:latin typeface="Aharoni" panose="02010803020104030203" pitchFamily="2" charset="-79"/>
                <a:cs typeface="Aharoni" panose="02010803020104030203" pitchFamily="2" charset="-79"/>
              </a:rPr>
              <a:t>Logical Operators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8138159" cy="3518297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the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filter()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command.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4012849"/>
              </p:ext>
            </p:extLst>
          </p:nvPr>
        </p:nvGraphicFramePr>
        <p:xfrm>
          <a:off x="1679194" y="1700289"/>
          <a:ext cx="5785612" cy="3238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2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Syntax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Less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&lt;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Less than or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&lt;=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Exactly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==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Greater than or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&gt;=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Greater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Not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!=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\|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>
                          <a:latin typeface="Courier"/>
                        </a:rPr>
                        <a:t>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4A0C8B6-A722-A494-3C07-CBEFC0233872}"/>
              </a:ext>
            </a:extLst>
          </p:cNvPr>
          <p:cNvCxnSpPr/>
          <p:nvPr/>
        </p:nvCxnSpPr>
        <p:spPr>
          <a:xfrm>
            <a:off x="457200" y="868679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Variable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data often arrive with unclear variable names.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each variable represent?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43863F-F48F-02AE-2932-375B0F4C7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42" y="1856225"/>
            <a:ext cx="8734221" cy="117000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DB0964-0365-0892-B6B1-6CF23F33BD69}"/>
              </a:ext>
            </a:extLst>
          </p:cNvPr>
          <p:cNvCxnSpPr/>
          <p:nvPr/>
        </p:nvCxnSpPr>
        <p:spPr>
          <a:xfrm>
            <a:off x="457200" y="882316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Renaming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two questions: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name informative?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name easy to work with?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665F1-A54B-3A47-6171-39FEF2976D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965"/>
          <a:stretch>
            <a:fillRect/>
          </a:stretch>
        </p:blipFill>
        <p:spPr>
          <a:xfrm>
            <a:off x="457199" y="2571750"/>
            <a:ext cx="7903030" cy="186758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559921-F362-37DD-ED79-A3A21D09C69C}"/>
              </a:ext>
            </a:extLst>
          </p:cNvPr>
          <p:cNvCxnSpPr/>
          <p:nvPr/>
        </p:nvCxnSpPr>
        <p:spPr>
          <a:xfrm>
            <a:off x="457199" y="898358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613"/>
            <a:ext cx="8229600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Informative Names Can Still Be Awkward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863"/>
            <a:ext cx="8229600" cy="529823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clean_names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from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janitor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fix them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7F673A-4363-0172-7D7F-8C7482555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58686"/>
            <a:ext cx="8124858" cy="10239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A9FA7E-0567-E5B2-4BB2-ACA8ACFAA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64" y="2660861"/>
            <a:ext cx="8162494" cy="227444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28C6AFB-9687-9D58-4AA4-237503BAC92A}"/>
              </a:ext>
            </a:extLst>
          </p:cNvPr>
          <p:cNvCxnSpPr/>
          <p:nvPr/>
        </p:nvCxnSpPr>
        <p:spPr>
          <a:xfrm>
            <a:off x="457200" y="729916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Selecting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394472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select()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either a variable name or position.</a:t>
            </a:r>
          </a:p>
          <a:p>
            <a:pPr marL="68580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dirty="0">
                <a:solidFill>
                  <a:srgbClr val="407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%&gt;%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62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most_important_issue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dirty="0">
                <a:solidFill>
                  <a:srgbClr val="407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%&gt;%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62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dirty="0">
                <a:solidFill>
                  <a:srgbClr val="40A0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FF62D-3C5B-936F-536F-FD1B282D1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551816"/>
            <a:ext cx="7982863" cy="347738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193488-2699-FD26-9B33-349F7DD773CD}"/>
              </a:ext>
            </a:extLst>
          </p:cNvPr>
          <p:cNvCxnSpPr/>
          <p:nvPr/>
        </p:nvCxnSpPr>
        <p:spPr>
          <a:xfrm>
            <a:off x="457199" y="938463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DC87-B61D-B8F5-9B42-228739B56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Selecting Multiple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048FE-C8E5-1A7B-95AF-4E42CC5FC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69382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select()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your desired variables.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helpful as research data has a lot of variables you won’t use and can get in the way.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Say we only care about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feeling_dems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5CAC76-B323-008D-8FAF-A45D4881B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2" y="2213266"/>
            <a:ext cx="8846297" cy="199950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535776-2247-4DBB-8063-C9CEDC692CFC}"/>
              </a:ext>
            </a:extLst>
          </p:cNvPr>
          <p:cNvCxnSpPr/>
          <p:nvPr/>
        </p:nvCxnSpPr>
        <p:spPr>
          <a:xfrm>
            <a:off x="457200" y="930442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8300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F8E7E-90C1-55AA-D6C9-669A41DF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FFC03-9794-1E8A-B923-B3BE9603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25" y="83515"/>
            <a:ext cx="8229600" cy="857250"/>
          </a:xfrm>
        </p:spPr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Selecting Multiple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622B7-E267-69EE-0D98-6460C7E1C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378" y="940765"/>
            <a:ext cx="8531422" cy="3996756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can select just the variables we will use and clean out the others we won’t use.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should always create a new dataset when doing this just in case you want to add more variables later.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5D2798-8BF3-F6A6-C20B-A0A78E9517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313"/>
          <a:stretch>
            <a:fillRect/>
          </a:stretch>
        </p:blipFill>
        <p:spPr>
          <a:xfrm>
            <a:off x="293914" y="940765"/>
            <a:ext cx="8531422" cy="215077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44DB6A-3144-8877-3234-38C00100D7CF}"/>
              </a:ext>
            </a:extLst>
          </p:cNvPr>
          <p:cNvCxnSpPr/>
          <p:nvPr/>
        </p:nvCxnSpPr>
        <p:spPr>
          <a:xfrm>
            <a:off x="457200" y="874295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6765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Selecting Rows with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slice()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the first row contains variable names rather than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78906-B70B-CB53-32F9-9EAFBC804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75" y="1645727"/>
            <a:ext cx="8770650" cy="1017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A01592-643D-2C31-6741-7BD29E42F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75" y="3696864"/>
            <a:ext cx="8770650" cy="1066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EF287B-F3BA-0518-FA9D-0837A6EEC15C}"/>
              </a:ext>
            </a:extLst>
          </p:cNvPr>
          <p:cNvSpPr txBox="1"/>
          <p:nvPr/>
        </p:nvSpPr>
        <p:spPr>
          <a:xfrm>
            <a:off x="186675" y="2988978"/>
            <a:ext cx="8770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minus sign to remove a row with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slice()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 column with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select().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4F050F-E2D1-73C3-5FED-21050DCE6112}"/>
              </a:ext>
            </a:extLst>
          </p:cNvPr>
          <p:cNvCxnSpPr/>
          <p:nvPr/>
        </p:nvCxnSpPr>
        <p:spPr>
          <a:xfrm>
            <a:off x="457200" y="938463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More on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last cleaning steps is ensuring variables use the proper types.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wars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character variables but need to be numeric.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5BABA-7DB0-5A3F-F3C7-8C4418F68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08" y="2051957"/>
            <a:ext cx="8587984" cy="164918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FCB29D-A3EE-D99F-6B9C-3E08C7052E40}"/>
              </a:ext>
            </a:extLst>
          </p:cNvPr>
          <p:cNvCxnSpPr/>
          <p:nvPr/>
        </p:nvCxnSpPr>
        <p:spPr>
          <a:xfrm>
            <a:off x="457200" y="906379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D119-EBFE-2746-58CB-AA6D3B937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4EB7-AA56-0C80-108D-ED6BBFA3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More on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F908F-F475-62EA-CCE4-1A74587A5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mutate()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change the variables to the correct class.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803488-79F8-F8BB-D454-5718CEEC7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1723287"/>
            <a:ext cx="8641617" cy="243505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01E2BE-A456-E878-1424-A043E89EA27D}"/>
              </a:ext>
            </a:extLst>
          </p:cNvPr>
          <p:cNvCxnSpPr/>
          <p:nvPr/>
        </p:nvCxnSpPr>
        <p:spPr>
          <a:xfrm>
            <a:off x="457200" y="954505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3781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Practice with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tibble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above. 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dirty="0">
                <a:latin typeface="Courier"/>
              </a:rPr>
              <a:t>slice()</a:t>
            </a:r>
            <a:r>
              <a:rPr dirty="0"/>
              <a:t>, </a:t>
            </a:r>
            <a:r>
              <a:rPr dirty="0" err="1">
                <a:latin typeface="Courier"/>
              </a:rPr>
              <a:t>parse_number</a:t>
            </a:r>
            <a:r>
              <a:rPr dirty="0">
                <a:latin typeface="Courier"/>
              </a:rPr>
              <a:t>()</a:t>
            </a:r>
            <a:r>
              <a:rPr dirty="0"/>
              <a:t>,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dirty="0"/>
              <a:t> </a:t>
            </a:r>
            <a:r>
              <a:rPr dirty="0">
                <a:latin typeface="Courier"/>
              </a:rPr>
              <a:t>mutate()</a:t>
            </a:r>
            <a:r>
              <a:rPr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013379-494A-0B9E-8EED-D7C0972889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503"/>
          <a:stretch>
            <a:fillRect/>
          </a:stretch>
        </p:blipFill>
        <p:spPr>
          <a:xfrm>
            <a:off x="186675" y="1200151"/>
            <a:ext cx="8563168" cy="116204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56154F-0F96-2CAC-5122-CDCBF7833953}"/>
              </a:ext>
            </a:extLst>
          </p:cNvPr>
          <p:cNvCxnSpPr/>
          <p:nvPr/>
        </p:nvCxnSpPr>
        <p:spPr>
          <a:xfrm>
            <a:off x="457200" y="970547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Reading Data into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data will come from a file, often a CSV.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these lines sequentially leaves only the second version of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anes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global environment.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09A373-5373-3AC6-F2D9-30E90B029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3032"/>
            <a:ext cx="8429861" cy="161743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D77CE1-287B-A475-FD62-B81A1E80C82A}"/>
              </a:ext>
            </a:extLst>
          </p:cNvPr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>
                <a:latin typeface="Aharoni" panose="02010803020104030203" pitchFamily="2" charset="-79"/>
                <a:cs typeface="Aharoni" panose="02010803020104030203" pitchFamily="2" charset="-79"/>
              </a:rPr>
              <a:t>Working Directories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previous code works only if the file is in your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directory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working directory is where you should keep your data, code, and other files for a project.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set your working directory in 2 ways.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A0E10-7C3F-BFCA-FCBF-3D7492BBA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31" y="3315792"/>
            <a:ext cx="8506469" cy="80005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4525A6-731D-7772-74D7-2225F8057E87}"/>
              </a:ext>
            </a:extLst>
          </p:cNvPr>
          <p:cNvCxnSpPr/>
          <p:nvPr/>
        </p:nvCxnSpPr>
        <p:spPr>
          <a:xfrm>
            <a:off x="457200" y="930442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2C0DC0-40FC-3611-939D-2AC68F803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5168" y="-7520"/>
            <a:ext cx="8253663" cy="515853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3FD4B4-831F-F7F2-D3A0-8AFA05F15266}"/>
              </a:ext>
            </a:extLst>
          </p:cNvPr>
          <p:cNvSpPr txBox="1">
            <a:spLocks/>
          </p:cNvSpPr>
          <p:nvPr/>
        </p:nvSpPr>
        <p:spPr>
          <a:xfrm>
            <a:off x="445168" y="526383"/>
            <a:ext cx="5723021" cy="1928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Navigate to your folder with the data in the files tab.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on the gear.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“Set as Working Directory”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1B23D5-3830-79DC-2336-43C799689209}"/>
              </a:ext>
            </a:extLst>
          </p:cNvPr>
          <p:cNvSpPr/>
          <p:nvPr/>
        </p:nvSpPr>
        <p:spPr>
          <a:xfrm>
            <a:off x="7291138" y="2277979"/>
            <a:ext cx="320842" cy="29377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43C05-D0AA-41EB-AC0E-3DBEE59786EE}"/>
              </a:ext>
            </a:extLst>
          </p:cNvPr>
          <p:cNvSpPr/>
          <p:nvPr/>
        </p:nvSpPr>
        <p:spPr>
          <a:xfrm>
            <a:off x="5735053" y="3505200"/>
            <a:ext cx="1876927" cy="3208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574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More on Working Directories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601828"/>
          </a:xfrm>
        </p:spPr>
        <p:txBody>
          <a:bodyPr>
            <a:normAutofit/>
          </a:bodyPr>
          <a:lstStyle/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the working directory with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setwd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it with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getwd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</a:p>
          <a:p>
            <a:pPr lvl="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Alternatives: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R by opening an R script.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 the full path in your code.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inside an R project.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452A74-C60E-B265-D036-4AE86F957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8" y="3801979"/>
            <a:ext cx="8983883" cy="65945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339428-3EAE-FABA-7115-8F96DFCF4828}"/>
              </a:ext>
            </a:extLst>
          </p:cNvPr>
          <p:cNvCxnSpPr/>
          <p:nvPr/>
        </p:nvCxnSpPr>
        <p:spPr>
          <a:xfrm>
            <a:off x="457200" y="898358"/>
            <a:ext cx="822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2544</Words>
  <Application>Microsoft Macintosh PowerPoint</Application>
  <PresentationFormat>On-screen Show (16:9)</PresentationFormat>
  <Paragraphs>309</Paragraphs>
  <Slides>64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3" baseType="lpstr">
      <vt:lpstr>Aharoni</vt:lpstr>
      <vt:lpstr>Aptos</vt:lpstr>
      <vt:lpstr>Arial</vt:lpstr>
      <vt:lpstr>Calibri</vt:lpstr>
      <vt:lpstr>Cambria Math</vt:lpstr>
      <vt:lpstr>Courier</vt:lpstr>
      <vt:lpstr>Courier New</vt:lpstr>
      <vt:lpstr>Times New Roman</vt:lpstr>
      <vt:lpstr>Office Theme</vt:lpstr>
      <vt:lpstr>Intro to Graduate School and R</vt:lpstr>
      <vt:lpstr>Introductions!</vt:lpstr>
      <vt:lpstr>What is this workshop?</vt:lpstr>
      <vt:lpstr>Ground Rules for the Class</vt:lpstr>
      <vt:lpstr>Welcome to FSU!</vt:lpstr>
      <vt:lpstr>What To Expect From Grad School</vt:lpstr>
      <vt:lpstr>How to Be Successful</vt:lpstr>
      <vt:lpstr>The Most Important Way to Be Successful: DO NOT RELY ON AI</vt:lpstr>
      <vt:lpstr>How to Use AI Effectively for Coding</vt:lpstr>
      <vt:lpstr>Managing Graduate School</vt:lpstr>
      <vt:lpstr>Workshop Website</vt:lpstr>
      <vt:lpstr>Installing RStudio</vt:lpstr>
      <vt:lpstr>Download Day 1 R Script</vt:lpstr>
      <vt:lpstr>Changing the RStudio Theme</vt:lpstr>
      <vt:lpstr>PowerPoint Presentation</vt:lpstr>
      <vt:lpstr>PowerPoint Presentation</vt:lpstr>
      <vt:lpstr>PowerPoint Presentation</vt:lpstr>
      <vt:lpstr>RStudio Theme: Step 4</vt:lpstr>
      <vt:lpstr>RStudio Theme: Step 4</vt:lpstr>
      <vt:lpstr>RStudio Theme: Step 4</vt:lpstr>
      <vt:lpstr>Live Demo Parts of RStudio</vt:lpstr>
      <vt:lpstr>Running Code: 1) Type in the Console</vt:lpstr>
      <vt:lpstr>Running Code: 2) Type in Script</vt:lpstr>
      <vt:lpstr>PowerPoint Presentation</vt:lpstr>
      <vt:lpstr>PowerPoint Presentation</vt:lpstr>
      <vt:lpstr>Using R as a Calculator</vt:lpstr>
      <vt:lpstr>Practice with R as a Calculator</vt:lpstr>
      <vt:lpstr>Objects and Scalars</vt:lpstr>
      <vt:lpstr>Practice with Using Objects</vt:lpstr>
      <vt:lpstr>Strings</vt:lpstr>
      <vt:lpstr>Strings Cannot Be Used as Numbers</vt:lpstr>
      <vt:lpstr>Converting Strings to Numbers</vt:lpstr>
      <vt:lpstr>parse_number() Extracts a Number</vt:lpstr>
      <vt:lpstr>Vectors</vt:lpstr>
      <vt:lpstr>Numeric Vectors</vt:lpstr>
      <vt:lpstr>Character Vectors</vt:lpstr>
      <vt:lpstr>Escape Sequences in Strings</vt:lpstr>
      <vt:lpstr>Factor Vectors</vt:lpstr>
      <vt:lpstr>Practice with Vectors</vt:lpstr>
      <vt:lpstr>Missing Values</vt:lpstr>
      <vt:lpstr>Data Frames and Tibbles</vt:lpstr>
      <vt:lpstr>Creating a Tibble</vt:lpstr>
      <vt:lpstr>Calling a Column or Value</vt:lpstr>
      <vt:lpstr>Combining Vectors into a Tibble</vt:lpstr>
      <vt:lpstr>Editing Data with mutate()</vt:lpstr>
      <vt:lpstr>The Base R Equivalent</vt:lpstr>
      <vt:lpstr>mutate() and case_when()</vt:lpstr>
      <vt:lpstr>filter()</vt:lpstr>
      <vt:lpstr>Removing Rows with filter()</vt:lpstr>
      <vt:lpstr>Logical Operators</vt:lpstr>
      <vt:lpstr>Variable Names</vt:lpstr>
      <vt:lpstr>Renaming Variables</vt:lpstr>
      <vt:lpstr>Informative Names Can Still Be Awkward</vt:lpstr>
      <vt:lpstr>Selecting Variables</vt:lpstr>
      <vt:lpstr>Selecting Multiple Variable</vt:lpstr>
      <vt:lpstr>Selecting Multiple Variable</vt:lpstr>
      <vt:lpstr>Selecting Rows with slice()</vt:lpstr>
      <vt:lpstr>More on Cleaning</vt:lpstr>
      <vt:lpstr>More on Cleaning</vt:lpstr>
      <vt:lpstr>Practice with Data Cleaning</vt:lpstr>
      <vt:lpstr>Reading Data into R</vt:lpstr>
      <vt:lpstr>Working Directories</vt:lpstr>
      <vt:lpstr>PowerPoint Presentation</vt:lpstr>
      <vt:lpstr>More on Working Directories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 You’re About to Be a Grad Student?</dc:title>
  <dc:creator>Taylor Hill</dc:creator>
  <cp:keywords/>
  <cp:lastModifiedBy>Taylor Hill</cp:lastModifiedBy>
  <cp:revision>4</cp:revision>
  <dcterms:created xsi:type="dcterms:W3CDTF">2026-08-04T21:32:47Z</dcterms:created>
  <dcterms:modified xsi:type="dcterms:W3CDTF">2026-08-10T15:30:26Z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institute">
    <vt:lpwstr>FSU</vt:lpwstr>
  </property>
  <property fmtid="{D5CDD505-2E9C-101B-9397-08002B2CF9AE}" pid="12" name="institutes">
    <vt:lpwstr/>
  </property>
  <property fmtid="{D5CDD505-2E9C-101B-9397-08002B2CF9AE}" pid="13" name="labels">
    <vt:lpwstr/>
  </property>
  <property fmtid="{D5CDD505-2E9C-101B-9397-08002B2CF9AE}" pid="14" name="subtitle">
    <vt:lpwstr>Day 1 of the RI Workshop, Summer 2026</vt:lpwstr>
  </property>
  <property fmtid="{D5CDD505-2E9C-101B-9397-08002B2CF9AE}" pid="15" name="toc-title">
    <vt:lpwstr>Table of contents</vt:lpwstr>
  </property>
</Properties>
</file>