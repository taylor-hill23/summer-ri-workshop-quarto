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78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>
        <p:scale>
          <a:sx n="102" d="100"/>
          <a:sy n="102" d="100"/>
        </p:scale>
        <p:origin x="85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05FC-EFE5-6747-9CF6-6117A1EED12B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A1DB7-CEC9-464D-A41E-893A748CD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5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A34C3-6473-E946-862B-E52C3F4CF0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63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2C88-640A-D173-50A2-A45CE6B5B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A3DA5-7C75-6989-3437-C2903F425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BAAEA-187F-5623-C8FB-D99748BC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957C-1FF3-DAAD-DD81-DE51CB36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39594-BE54-C3A3-DB13-E3314F66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4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5EFCB-FD90-0D9B-E363-D1180E54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0FDF-CF97-9EC6-69B0-0FF9734A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F9BF2-8F42-DEA4-AECD-8CB38FC1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BFB03-4ADD-6C7A-1A37-AFE7B688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D541-29C2-FD91-D932-E406698D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0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1BCB-DBA2-8B00-BD6A-F25543ED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10A7-9C95-CA90-D3C2-F969CE22E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A7D5A-AFE7-4E23-230D-FF3DF1A9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C3345-7E4A-6C34-A305-D74B2405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2184-D80C-6020-58F2-68DE9F12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7FB9-35DD-5A62-4762-EE5DA79F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61963-057E-EE9E-DCD7-DBC166343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077AE-8118-8E93-9FA0-8544D1839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0F056-FDFD-390A-6FBD-7B4F605E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78284-1AB1-718A-A646-3464E7F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B417F-9D22-73A7-4691-D18B3F19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0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EB89-F135-BCD1-E07F-70EA0F49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C03C8-2690-5E4A-0272-061851C15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6C8FF-BE69-8F70-5EEF-FBAAB528A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F2440-30AF-6079-9B96-3FF9BB331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445FF-5C07-59AF-DEE4-A9AA55D52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699B4-5E62-FF3F-D4D6-76D956FE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B79AF-B703-3AD6-B817-3D5483F2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DE38A8-9743-EC7A-B73C-361000BB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6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4341-512E-EC24-EA4A-079562CB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2DFB-2E75-07D1-87CB-DEA488FC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02D05-963E-15EE-F95B-EF9B166E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242E7-1EF3-1F0A-F813-C6AF26A1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95135-9358-628E-F721-C75E6E90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2BD08-7DCC-7952-FA55-622BFBFD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4096D-CFA9-3C9D-D30F-BCC154C7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586E-1F8A-B536-4B4D-B1D652E7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0C650-D28B-AE5A-BB17-9934B42AF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C1D20-CF5A-87F2-EBB8-6475CFC52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4EA88-0A2E-9525-AAB3-26BD7E65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E664-C7A4-EAA7-959A-C59F1BBA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CDE56-E2A6-D622-E27D-C74AE8FA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2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0373-D6F6-5A2D-7153-FA17A2BB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C2568-55CC-8B40-9143-D0E88755E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5D7EF-5372-B6B9-E216-89E96B5DF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B2488-9F3F-D06E-69AA-4E811775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FFA02-F690-7384-1C37-4009F491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59314-EFBE-8BBC-4B26-6C1B8521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1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92FE-7F6E-C4C1-52BC-720C2E24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F151E-B325-B783-5024-05A703CEE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6AADC-0832-83B0-8785-D264FC4F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69A2-43A7-B157-FAF4-E94C2779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9F27A-EE1A-9DB7-18F2-F5B3E847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6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A9FBE-30FD-3CE3-7D07-35E4ECC55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3CA6D-9EC2-4D4C-57E9-69ABC2F49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E49E-6581-8A98-AB46-CE7B728B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3D2C9-63CD-CBF1-9EE2-46FF01FB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1B0F1-BED9-491E-4171-EF9931DD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8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3B334-D085-3FA0-4A16-9163A20A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D9151-0F7F-E188-1606-E5915722E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AB6D1-A3F2-34C7-90A6-12D0F7F3C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463F7-FBBB-F74D-8178-FAAF781E2CC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B06A-50B9-C16C-30E2-D528C3D9F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491B-F873-D6DF-0160-89E1F8383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9BE61-A8DD-BC44-8852-38D70A734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0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jors | Office of Admissions">
            <a:extLst>
              <a:ext uri="{FF2B5EF4-FFF2-40B4-BE49-F238E27FC236}">
                <a16:creationId xmlns:a16="http://schemas.microsoft.com/office/drawing/2014/main" id="{93180766-F866-4B28-D4F3-5A6D516384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3206" r="3485" b="1"/>
          <a:stretch>
            <a:fillRect/>
          </a:stretch>
        </p:blipFill>
        <p:spPr>
          <a:xfrm>
            <a:off x="0" y="0"/>
            <a:ext cx="12188923" cy="68579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58567"/>
            <a:ext cx="9144000" cy="1927035"/>
          </a:xfrm>
        </p:spPr>
        <p:txBody>
          <a:bodyPr>
            <a:normAutofit/>
          </a:bodyPr>
          <a:lstStyle/>
          <a:p>
            <a:pPr fontAlgn="base"/>
            <a:r>
              <a:rPr lang="en-US" b="1" dirty="0">
                <a:solidFill>
                  <a:schemeClr val="bg1"/>
                </a:solidFill>
              </a:rPr>
              <a:t>Intro to Loops and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3 of the RI Workshop, Summer 2026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Taylor Hill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8E50-8C4C-7E88-9D05-4DCF09FC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184"/>
            <a:ext cx="10515600" cy="1054250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Reviewing Homework Plots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44210C-7DA0-13FA-B7CA-C1AB5B35F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394" y="1182361"/>
            <a:ext cx="7567517" cy="567563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06C71D-884F-CB52-555B-7FA851E352D0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31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BC68A-FB27-0C17-610A-C70633F1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E761-018A-85A6-D33B-73C57288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Figure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C22E5-03FE-B9D1-FD2B-8F974F963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BBB160-32A2-61B1-D873-793054AC8B8A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60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9F6D-88EC-A86E-E36E-C31B6B6B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0FEA-91AB-A990-A59B-952A10D71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Figure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18AD2-18C8-8098-27EF-CDB680890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ADCB06-3DE8-AD8D-DBD3-9F6E381B26BC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73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1AF5-E791-AE60-3F49-4845B167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3181-E568-6C8A-EE4E-255A70E4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Figure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EB0F-3FB4-7A8E-E46D-3488ABACC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A18C9C-455D-9880-8DA1-83DB3C4F7CFA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16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7C34-1D65-B2ED-3764-9CCEDC3B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6FA7-8073-179B-8DA5-7BC1FDFF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Figure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9EE04-46F0-0354-8594-FF209438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91D208-67AA-DC5D-127D-7D8D010895A8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13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8E4A-55BB-85A5-A703-3C8D242C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84C5-B6BA-6C20-EB7E-6B5312644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124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Some Non-R Resources for Graduate School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6A95-9C3F-5054-9649-BF7EAD765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resource: Zotero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28DFFF-F45E-D60B-9ACB-88288CF91BEE}"/>
              </a:ext>
            </a:extLst>
          </p:cNvPr>
          <p:cNvCxnSpPr/>
          <p:nvPr/>
        </p:nvCxnSpPr>
        <p:spPr>
          <a:xfrm>
            <a:off x="838200" y="1204857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Zotero: a powerful free tool for managing your references - Cranfield  University Blogs">
            <a:extLst>
              <a:ext uri="{FF2B5EF4-FFF2-40B4-BE49-F238E27FC236}">
                <a16:creationId xmlns:a16="http://schemas.microsoft.com/office/drawing/2014/main" id="{560E87A1-5EAF-F8F2-B011-728325FE5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9"/>
          <a:stretch>
            <a:fillRect/>
          </a:stretch>
        </p:blipFill>
        <p:spPr bwMode="auto">
          <a:xfrm>
            <a:off x="1936397" y="2517291"/>
            <a:ext cx="8767462" cy="394535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45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F8B0-2EE1-134F-B627-603D583E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58B3-3044-79B0-7C7A-F46E671B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6C85-6C9C-3556-8BDF-5A92486CC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CB4C64-46CA-546A-385C-BDE3D5116D6E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97E68A-F3DC-C23A-3B45-D9B45A7E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19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AB01BD-CFA2-1E84-E22B-54DFFDBE0A54}"/>
              </a:ext>
            </a:extLst>
          </p:cNvPr>
          <p:cNvSpPr/>
          <p:nvPr/>
        </p:nvSpPr>
        <p:spPr>
          <a:xfrm>
            <a:off x="1190171" y="290286"/>
            <a:ext cx="1959429" cy="5370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85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0D3-4F51-185F-8750-AF215CA9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FB38-CB31-A8F2-DEEA-096AA6D8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A7D29-398B-33A6-AC9E-95EA354E1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B64F9A-D1F1-2CB2-9A12-E67F47084882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4A15BE-0152-76C9-998E-EA7A6A674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650B4A-9C08-D80A-E90E-86D444CA6698}"/>
              </a:ext>
            </a:extLst>
          </p:cNvPr>
          <p:cNvSpPr/>
          <p:nvPr/>
        </p:nvSpPr>
        <p:spPr>
          <a:xfrm>
            <a:off x="10174514" y="365125"/>
            <a:ext cx="566057" cy="4476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1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DFEEE-2685-C6DE-72C2-C13B5453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2C9D-DD2B-D0B3-D7C6-5C50374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AA98-F5B2-B830-386E-D8D25665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D7FA7-40FB-B680-DB8E-E8C1B1707D80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809F7-D6E5-5D64-367A-3383C6869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3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DE4F5-A879-17D9-D993-86F81D9A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7739-D894-0334-6307-F5C2F7DF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9EADA7-BAE1-14B2-9E9A-58C967F603BB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66FD9C-6EAD-3CF3-037B-D75B4E1A7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972800" cy="6858001"/>
          </a:xfrm>
        </p:spPr>
      </p:pic>
    </p:spTree>
    <p:extLst>
      <p:ext uri="{BB962C8B-B14F-4D97-AF65-F5344CB8AC3E}">
        <p14:creationId xmlns:p14="http://schemas.microsoft.com/office/powerpoint/2010/main" val="384110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25E1-7BF3-8B94-A2D1-B6FB0062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2A40-0F66-4B00-30C2-F4BD8F8B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DE7FA-0249-1F08-674A-0C4317C89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49FF0E-72D0-9F57-1815-AA06F14EABF3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5AFC45-88FB-74A6-44DE-AA484FA0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9C5EAA-5DE8-3F57-505E-537BFCE7F2CC}"/>
              </a:ext>
            </a:extLst>
          </p:cNvPr>
          <p:cNvSpPr/>
          <p:nvPr/>
        </p:nvSpPr>
        <p:spPr>
          <a:xfrm>
            <a:off x="0" y="478971"/>
            <a:ext cx="508000" cy="7402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9E9A8-8553-43A4-E567-03507C4D4625}"/>
              </a:ext>
            </a:extLst>
          </p:cNvPr>
          <p:cNvSpPr txBox="1"/>
          <p:nvPr/>
        </p:nvSpPr>
        <p:spPr>
          <a:xfrm>
            <a:off x="0" y="1908402"/>
            <a:ext cx="171268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In-Text Citations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3601F-8FD3-F906-6522-5083B1CD2EF6}"/>
              </a:ext>
            </a:extLst>
          </p:cNvPr>
          <p:cNvSpPr/>
          <p:nvPr/>
        </p:nvSpPr>
        <p:spPr>
          <a:xfrm>
            <a:off x="508000" y="478971"/>
            <a:ext cx="508000" cy="7402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7BCE6-ED01-AD55-8A5F-D64C6A2A1E90}"/>
              </a:ext>
            </a:extLst>
          </p:cNvPr>
          <p:cNvSpPr txBox="1"/>
          <p:nvPr/>
        </p:nvSpPr>
        <p:spPr>
          <a:xfrm>
            <a:off x="1854199" y="388203"/>
            <a:ext cx="223882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Creating Bibliography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D57C5E-0B6A-5B59-8EDA-803CD43D71C9}"/>
              </a:ext>
            </a:extLst>
          </p:cNvPr>
          <p:cNvCxnSpPr/>
          <p:nvPr/>
        </p:nvCxnSpPr>
        <p:spPr>
          <a:xfrm flipV="1">
            <a:off x="254000" y="1335314"/>
            <a:ext cx="0" cy="5730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F2F4E8-68F6-279D-E289-C8B3DA8F6155}"/>
              </a:ext>
            </a:extLst>
          </p:cNvPr>
          <p:cNvCxnSpPr/>
          <p:nvPr/>
        </p:nvCxnSpPr>
        <p:spPr>
          <a:xfrm flipH="1">
            <a:off x="1117600" y="849085"/>
            <a:ext cx="736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67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2726-73E9-8DDE-F9F1-C578D6F8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E7E3-C994-9F42-F19F-8F567D22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endParaRPr 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764A-7202-6C29-229A-6F59F387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746536-AF6C-B519-6BF2-FB8D44933C67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7A178F-4DF9-A5B8-A37B-CB8AAC48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3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F3B0-C818-78BE-0641-C229497F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9CEE-2523-E7B3-1E16-D444AF50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Practice Manipulating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A967C-7D08-E4B9-4F5D-EB49111D6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following variables and name it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world_data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country: USA, JAP, CAD, RUS, UK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wars: 10, 3, 6, 8, 4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gov: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par, par, auth, par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turnout: 60, 80, 75, 99, 80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elect_yr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TRUE, FALSE, FALSE, NA,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average turnout by government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frequency table for government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variable in the data that is a dummy variable that is 1 when a country is authoritarian and 0 when they are not. Be sure to save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this new variable in 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the data to only countries that have elections in this year i.e.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elect_yr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7E479-067A-4B34-FA45-36B6B0F9F588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365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9AC8-1D8B-C4EB-3D9E-4B8A5741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9833-A070-CDD7-E2E4-4350F222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Solution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604A79-4383-5A33-A529-9A5F9E5395D1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CDF0419-66B7-72B9-F970-BE5AF1C8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2434"/>
            <a:ext cx="10515600" cy="508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0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55A5-9D52-FC0D-32DC-941AC788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93AB-5F11-F37F-D40B-AD3073D8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Solutions 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7C7429-E0DB-5401-1719-E798566D5AEC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355FCD4-CF21-4F24-D73D-C6B2D176C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4501"/>
            <a:ext cx="10519416" cy="182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1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853A-5BA1-8536-0095-B665FA05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57E6-1100-C72D-912B-295F522D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F5F2B-3358-D7D8-8E67-280A59152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portion of the workshop we will review lists and being practicing with for loops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loops are used to iterate through the same task repeatedly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basic structure of a for loop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F7D008-8237-B258-122F-5CA6EA4710F6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A8BABEB-C5FA-9511-8A63-1CBFB67A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50867"/>
            <a:ext cx="10463226" cy="15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0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FAA0-BC56-980C-EE3A-18D10D5F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B722-7A18-7500-7D42-7FE2373A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Loop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EBDF71-AAD9-8AA3-141F-31B4475FA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4599"/>
            <a:ext cx="10515600" cy="23581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17C3B1-432D-14BE-4A0E-61D2C372ACF1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457532A-2C1B-B461-43D4-2BCD62F71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13480"/>
            <a:ext cx="10492151" cy="59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3185D8-2DCC-686F-6C02-E384CEB5B083}"/>
              </a:ext>
            </a:extLst>
          </p:cNvPr>
          <p:cNvSpPr txBox="1"/>
          <p:nvPr/>
        </p:nvSpPr>
        <p:spPr>
          <a:xfrm>
            <a:off x="838198" y="4782404"/>
            <a:ext cx="10492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simple for loop takes each number in our vector and adds 1 to it and then stores the result in our empty vector. </a:t>
            </a:r>
          </a:p>
        </p:txBody>
      </p:sp>
    </p:spTree>
    <p:extLst>
      <p:ext uri="{BB962C8B-B14F-4D97-AF65-F5344CB8AC3E}">
        <p14:creationId xmlns:p14="http://schemas.microsoft.com/office/powerpoint/2010/main" val="1893133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1E63-C364-21C1-9E37-7888E0DD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C8CF-95BF-CE3A-25C3-5A74B4F3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Loops and Lists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0D1A12-E559-E20F-BA22-761D03687798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F858B19-D45C-5982-B7D1-717E218A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456"/>
          <a:stretch>
            <a:fillRect/>
          </a:stretch>
        </p:blipFill>
        <p:spPr>
          <a:xfrm>
            <a:off x="838198" y="2930138"/>
            <a:ext cx="10532021" cy="1704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54B1B6-24A5-AD02-7EAC-7646B7E071DF}"/>
              </a:ext>
            </a:extLst>
          </p:cNvPr>
          <p:cNvSpPr txBox="1"/>
          <p:nvPr/>
        </p:nvSpPr>
        <p:spPr>
          <a:xfrm>
            <a:off x="838198" y="4782404"/>
            <a:ext cx="10492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in the previous example our results were stored in a vector, we are also able to store results in lists or data frames. 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046EA54-C658-F3BD-0391-12B0F57BE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8" y="1244599"/>
            <a:ext cx="10532022" cy="151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88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1B4E-948C-B156-7B30-34658E95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383D-AA2E-EDC4-F307-D25E35E9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37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More on Loops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5C7B74-549F-AD13-8E99-91ED2A6D0D77}"/>
              </a:ext>
            </a:extLst>
          </p:cNvPr>
          <p:cNvCxnSpPr/>
          <p:nvPr/>
        </p:nvCxnSpPr>
        <p:spPr>
          <a:xfrm>
            <a:off x="826474" y="893328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0DDFF2-98E2-424E-B451-A80969D0725C}"/>
              </a:ext>
            </a:extLst>
          </p:cNvPr>
          <p:cNvSpPr txBox="1"/>
          <p:nvPr/>
        </p:nvSpPr>
        <p:spPr>
          <a:xfrm>
            <a:off x="821772" y="5825037"/>
            <a:ext cx="10492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 takes each value in our vector, adds 2 and saves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takes this number and divides it by the length of the vector*17.  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8F98CAC-BA13-FE90-12DE-B7602BC54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32353"/>
            <a:ext cx="10492150" cy="23852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64F47D-4792-288C-24E9-BB05BAB7A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34310"/>
            <a:ext cx="10475724" cy="229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2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5055-AD46-1A9E-C4AA-1633F505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86C5-67C8-803E-B756-819B1C25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Nested Loops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02CEE6-0794-E598-EB6F-F138D60CF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312433"/>
            <a:ext cx="10515599" cy="24213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C8892F-7ED7-EE6C-A390-530A12C3A8CC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32FEAED-067E-5B99-E2D7-E31674AE9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836965"/>
            <a:ext cx="10515599" cy="835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08BE32-7100-4C40-C52F-C5B574C2B9A4}"/>
              </a:ext>
            </a:extLst>
          </p:cNvPr>
          <p:cNvSpPr txBox="1"/>
          <p:nvPr/>
        </p:nvSpPr>
        <p:spPr>
          <a:xfrm>
            <a:off x="838198" y="4775997"/>
            <a:ext cx="10492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 takes each number in the vector and multiplies it by all the others.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1*1, 1*2, 1*3, 1*4, 1*5, 1*6, 2*1, 2*2, 2*3…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043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F280-DCF0-3F3D-D39F-FCA8AF47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BC34-5446-28E8-2D23-44F89791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474" y="0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Loops and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Dataframes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85B7EC-EACD-0013-2B3D-EA1B88DD0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947308"/>
            <a:ext cx="10515599" cy="268747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74D42C-90C6-AEF3-F811-35BAFDAF268D}"/>
              </a:ext>
            </a:extLst>
          </p:cNvPr>
          <p:cNvCxnSpPr/>
          <p:nvPr/>
        </p:nvCxnSpPr>
        <p:spPr>
          <a:xfrm>
            <a:off x="838199" y="830698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D15487-FEBD-41A3-DA95-6E84D568F12C}"/>
              </a:ext>
            </a:extLst>
          </p:cNvPr>
          <p:cNvSpPr txBox="1"/>
          <p:nvPr/>
        </p:nvSpPr>
        <p:spPr>
          <a:xfrm>
            <a:off x="826474" y="3694143"/>
            <a:ext cx="10492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 iterates across each number in the dataset and then divides it by 17/2.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index a dataset using square brackets [row, column].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BB4541-7E78-1FF3-EB62-8A900A9C7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59105"/>
            <a:ext cx="10563843" cy="172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19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5582-D3FF-1AC7-6290-BF564E07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4DCB-0F48-6D6E-E136-2CC4813B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Practice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E71144-9774-BC60-76D2-1C703930F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1661722"/>
            <a:ext cx="10515601" cy="3256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ACCDFE-1498-6DEA-0A6E-3A8A8A6F3243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6D3A0-AE78-413A-33C9-542307669A27}"/>
              </a:ext>
            </a:extLst>
          </p:cNvPr>
          <p:cNvSpPr txBox="1"/>
          <p:nvPr/>
        </p:nvSpPr>
        <p:spPr>
          <a:xfrm>
            <a:off x="838199" y="1200057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following vector: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33E9-BE0F-9F35-4915-69F373897C91}"/>
              </a:ext>
            </a:extLst>
          </p:cNvPr>
          <p:cNvSpPr txBox="1"/>
          <p:nvPr/>
        </p:nvSpPr>
        <p:spPr>
          <a:xfrm>
            <a:off x="838199" y="2127828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separate for loops to do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through and add 7 to each item (store results in a new vector)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each number by 5 (store results in a new vector) Bonus 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3 columns, counting up by 2 (col 1: 2,4,6,8,10,12, col 2: 14, 16, etc.) and add the last item from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the first item in each column (hint: invert the index with 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abs(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-length(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loop to save each cell in the data from from 3. as an item in a list</a:t>
            </a:r>
          </a:p>
        </p:txBody>
      </p:sp>
    </p:spTree>
    <p:extLst>
      <p:ext uri="{BB962C8B-B14F-4D97-AF65-F5344CB8AC3E}">
        <p14:creationId xmlns:p14="http://schemas.microsoft.com/office/powerpoint/2010/main" val="2549297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8060-6ACB-E56B-0519-97A8BDEE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756F-B473-BDD3-D63F-60B46A3C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Writing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8AB2-AF69-CD32-A45C-E977995A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R, we can also write our own functions.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have the same structure as the canned functions in R and are stored in our global environment.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02BB2D-734E-801D-2800-AC57091A7A27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5728012-25CE-07CC-4D55-5BE1BCAD1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16795"/>
            <a:ext cx="10515601" cy="879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593E1E-E02D-5358-E7E4-D215250C6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079356"/>
            <a:ext cx="10544804" cy="5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38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42A-AAAB-0D32-EAC7-E4FCEEA9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DBF8-7EA4-144E-FF5E-3F94830F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Applying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6B6C-D48F-2861-BA6F-5ABECC0C6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function, they may be applicable to whole vectors or need to be applied to individual points in the data.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23F565-04F2-692F-95C8-D2EF3DC6FE40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1A8AA31-9C97-002B-0983-3EC2EC71E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2409"/>
            <a:ext cx="10515600" cy="327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D72A4-304C-F7A4-6388-3E392B75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957387"/>
            <a:ext cx="10528319" cy="224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55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9DE6-E628-C817-4E7F-F6DF779D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B0EE-A442-4BBF-48FF-D06D0FC7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More Complex Functions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24AE8A6-1DC6-DB80-6639-722EF088E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10425"/>
            <a:ext cx="10515594" cy="317913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CE8F48-CE66-053F-8BFF-E345CE7B1CAF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1E53C7D-5F08-0DF2-A3C3-D47B5C1E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03106"/>
            <a:ext cx="10582677" cy="7953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375540-8413-D641-8F5F-46B1ED2C3C20}"/>
              </a:ext>
            </a:extLst>
          </p:cNvPr>
          <p:cNvSpPr txBox="1"/>
          <p:nvPr/>
        </p:nvSpPr>
        <p:spPr>
          <a:xfrm>
            <a:off x="889348" y="5461348"/>
            <a:ext cx="892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estimates the mean and standard deviation of a vector. </a:t>
            </a:r>
          </a:p>
        </p:txBody>
      </p:sp>
    </p:spTree>
    <p:extLst>
      <p:ext uri="{BB962C8B-B14F-4D97-AF65-F5344CB8AC3E}">
        <p14:creationId xmlns:p14="http://schemas.microsoft.com/office/powerpoint/2010/main" val="617379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31A8-EA5E-C81B-370A-4B40C4FC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D3EB-C76B-A3BA-2212-8D8A7781A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Practice with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E6E8-36F4-A32B-6786-CB7797ADD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3"/>
            <a:ext cx="10515600" cy="46816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this code.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the following: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vector represents minutes, write a function to convert it to hours.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vector that converts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hours,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your hours vector in a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9C6C69-BD9C-FF88-AFEA-59DE1B459173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AB684A9-5FBC-21F5-4426-49D8833B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66103"/>
            <a:ext cx="10570773" cy="89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24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013B-9366-D1DE-10BB-B99AAA63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77A1-13BC-5D96-64A0-0ED0278A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7E5638-D513-42C0-CB91-B299A48AE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321828"/>
            <a:ext cx="10533069" cy="238586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F25277-6034-9896-43AF-942443F54B3D}"/>
              </a:ext>
            </a:extLst>
          </p:cNvPr>
          <p:cNvCxnSpPr/>
          <p:nvPr/>
        </p:nvCxnSpPr>
        <p:spPr>
          <a:xfrm>
            <a:off x="838200" y="111879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96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641</Words>
  <Application>Microsoft Macintosh PowerPoint</Application>
  <PresentationFormat>Widescreen</PresentationFormat>
  <Paragraphs>65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Aharoni</vt:lpstr>
      <vt:lpstr>Aptos</vt:lpstr>
      <vt:lpstr>Aptos Display</vt:lpstr>
      <vt:lpstr>Arial</vt:lpstr>
      <vt:lpstr>Courier New</vt:lpstr>
      <vt:lpstr>Times New Roman</vt:lpstr>
      <vt:lpstr>Office Theme</vt:lpstr>
      <vt:lpstr>Intro to Loops and Functions</vt:lpstr>
      <vt:lpstr>Reviewing Homework Plots</vt:lpstr>
      <vt:lpstr>Figure 1</vt:lpstr>
      <vt:lpstr>Figure 2</vt:lpstr>
      <vt:lpstr>Figure 3</vt:lpstr>
      <vt:lpstr>Figure 4</vt:lpstr>
      <vt:lpstr>Some Non-R Resources for Graduate School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Manipulating Data</vt:lpstr>
      <vt:lpstr>Solution</vt:lpstr>
      <vt:lpstr>Solutions 2</vt:lpstr>
      <vt:lpstr>For Loops</vt:lpstr>
      <vt:lpstr>Loop Example</vt:lpstr>
      <vt:lpstr>Loops and Lists</vt:lpstr>
      <vt:lpstr>More on Loops</vt:lpstr>
      <vt:lpstr> Nested Loops</vt:lpstr>
      <vt:lpstr>Loops and Dataframes</vt:lpstr>
      <vt:lpstr>Practice</vt:lpstr>
      <vt:lpstr>Writing a Function</vt:lpstr>
      <vt:lpstr>Applying Functions</vt:lpstr>
      <vt:lpstr>More Complex Functions</vt:lpstr>
      <vt:lpstr>Practice with Functions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Hill</dc:creator>
  <cp:lastModifiedBy>Taylor Hill</cp:lastModifiedBy>
  <cp:revision>3</cp:revision>
  <dcterms:created xsi:type="dcterms:W3CDTF">2026-08-06T15:53:28Z</dcterms:created>
  <dcterms:modified xsi:type="dcterms:W3CDTF">2026-08-06T19:47:53Z</dcterms:modified>
</cp:coreProperties>
</file>